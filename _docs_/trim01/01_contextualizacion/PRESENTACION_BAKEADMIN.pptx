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
      <p:font typeface="Work Sans Medium"/>
      <p:regular r:id="rId29"/>
      <p:bold r:id="rId30"/>
      <p:italic r:id="rId31"/>
      <p:boldItalic r:id="rId32"/>
    </p:embeddedFont>
    <p:embeddedFont>
      <p:font typeface="Work Sans"/>
      <p:regular r:id="rId33"/>
      <p:bold r:id="rId34"/>
      <p:italic r:id="rId35"/>
      <p:boldItalic r:id="rId36"/>
    </p:embeddedFont>
    <p:embeddedFont>
      <p:font typeface="Work Sans Ligh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gWW6AZWnGLsQDfoUplL7YLUaEw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WorkSansLight-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Medium-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WorkSansMedium-italic.fntdata"/><Relationship Id="rId30" Type="http://schemas.openxmlformats.org/officeDocument/2006/relationships/font" Target="fonts/WorkSansMedium-bold.fntdata"/><Relationship Id="rId11" Type="http://schemas.openxmlformats.org/officeDocument/2006/relationships/slide" Target="slides/slide7.xml"/><Relationship Id="rId33" Type="http://schemas.openxmlformats.org/officeDocument/2006/relationships/font" Target="fonts/WorkSans-regular.fntdata"/><Relationship Id="rId10" Type="http://schemas.openxmlformats.org/officeDocument/2006/relationships/slide" Target="slides/slide6.xml"/><Relationship Id="rId32" Type="http://schemas.openxmlformats.org/officeDocument/2006/relationships/font" Target="fonts/WorkSansMedium-boldItalic.fntdata"/><Relationship Id="rId13" Type="http://schemas.openxmlformats.org/officeDocument/2006/relationships/slide" Target="slides/slide9.xml"/><Relationship Id="rId35" Type="http://schemas.openxmlformats.org/officeDocument/2006/relationships/font" Target="fonts/WorkSans-italic.fntdata"/><Relationship Id="rId12" Type="http://schemas.openxmlformats.org/officeDocument/2006/relationships/slide" Target="slides/slide8.xml"/><Relationship Id="rId34" Type="http://schemas.openxmlformats.org/officeDocument/2006/relationships/font" Target="fonts/WorkSans-bold.fntdata"/><Relationship Id="rId15" Type="http://schemas.openxmlformats.org/officeDocument/2006/relationships/slide" Target="slides/slide11.xml"/><Relationship Id="rId37" Type="http://schemas.openxmlformats.org/officeDocument/2006/relationships/font" Target="fonts/WorkSansLight-regular.fntdata"/><Relationship Id="rId14" Type="http://schemas.openxmlformats.org/officeDocument/2006/relationships/slide" Target="slides/slide10.xml"/><Relationship Id="rId36" Type="http://schemas.openxmlformats.org/officeDocument/2006/relationships/font" Target="fonts/WorkSans-boldItalic.fntdata"/><Relationship Id="rId17" Type="http://schemas.openxmlformats.org/officeDocument/2006/relationships/slide" Target="slides/slide13.xml"/><Relationship Id="rId39" Type="http://schemas.openxmlformats.org/officeDocument/2006/relationships/font" Target="fonts/WorkSansLight-italic.fntdata"/><Relationship Id="rId16" Type="http://schemas.openxmlformats.org/officeDocument/2006/relationships/slide" Target="slides/slide12.xml"/><Relationship Id="rId38" Type="http://schemas.openxmlformats.org/officeDocument/2006/relationships/font" Target="fonts/WorkSansLight-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3" name="Shape 13"/>
        <p:cNvGrpSpPr/>
        <p:nvPr/>
      </p:nvGrpSpPr>
      <p:grpSpPr>
        <a:xfrm>
          <a:off x="0" y="0"/>
          <a:ext cx="0" cy="0"/>
          <a:chOff x="0" y="0"/>
          <a:chExt cx="0" cy="0"/>
        </a:xfrm>
      </p:grpSpPr>
      <p:pic>
        <p:nvPicPr>
          <p:cNvPr descr="Interfaz de usuario gráfica, Texto, Aplicación&#10;&#10;Descripción generada automáticamente" id="14" name="Google Shape;14;g39698cb6222_0_13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15" name="Shape 15"/>
        <p:cNvGrpSpPr/>
        <p:nvPr/>
      </p:nvGrpSpPr>
      <p:grpSpPr>
        <a:xfrm>
          <a:off x="0" y="0"/>
          <a:ext cx="0" cy="0"/>
          <a:chOff x="0" y="0"/>
          <a:chExt cx="0" cy="0"/>
        </a:xfrm>
      </p:grpSpPr>
      <p:pic>
        <p:nvPicPr>
          <p:cNvPr id="16" name="Google Shape;16;g39698cb6222_0_139"/>
          <p:cNvPicPr preferRelativeResize="0"/>
          <p:nvPr/>
        </p:nvPicPr>
        <p:blipFill rotWithShape="1">
          <a:blip r:embed="rId2">
            <a:alphaModFix/>
          </a:blip>
          <a:srcRect b="0" l="0" r="0" t="0"/>
          <a:stretch/>
        </p:blipFill>
        <p:spPr>
          <a:xfrm>
            <a:off x="11027833" y="317431"/>
            <a:ext cx="811390"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g39698cb6222_0_14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g39698cb6222_0_141"/>
          <p:cNvPicPr preferRelativeResize="0"/>
          <p:nvPr/>
        </p:nvPicPr>
        <p:blipFill rotWithShape="1">
          <a:blip r:embed="rId3">
            <a:alphaModFix/>
          </a:blip>
          <a:srcRect b="0" l="0" r="0" t="0"/>
          <a:stretch/>
        </p:blipFill>
        <p:spPr>
          <a:xfrm>
            <a:off x="11054859" y="303050"/>
            <a:ext cx="855785" cy="83398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9698cb6222_0_14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 name="Google Shape;22;g39698cb6222_0_14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g39698cb6222_0_1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g39698cb6222_0_1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g39698cb6222_0_135"/>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27" name="Shape 27"/>
        <p:cNvGrpSpPr/>
        <p:nvPr/>
      </p:nvGrpSpPr>
      <p:grpSpPr>
        <a:xfrm>
          <a:off x="0" y="0"/>
          <a:ext cx="0" cy="0"/>
          <a:chOff x="0" y="0"/>
          <a:chExt cx="0" cy="0"/>
        </a:xfrm>
      </p:grpSpPr>
      <p:sp>
        <p:nvSpPr>
          <p:cNvPr id="28" name="Google Shape;28;g39698cb6222_0_64"/>
          <p:cNvSpPr/>
          <p:nvPr/>
        </p:nvSpPr>
        <p:spPr>
          <a:xfrm>
            <a:off x="0" y="0"/>
            <a:ext cx="12192000" cy="6504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g39698cb6222_0_64"/>
          <p:cNvGrpSpPr/>
          <p:nvPr/>
        </p:nvGrpSpPr>
        <p:grpSpPr>
          <a:xfrm>
            <a:off x="1107036" y="1588427"/>
            <a:ext cx="994316" cy="61102"/>
            <a:chOff x="4580561" y="2589004"/>
            <a:chExt cx="1064464" cy="25200"/>
          </a:xfrm>
        </p:grpSpPr>
        <p:sp>
          <p:nvSpPr>
            <p:cNvPr id="30" name="Google Shape;30;g39698cb6222_0_64"/>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9698cb6222_0_64"/>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 name="Google Shape;32;g39698cb6222_0_64"/>
          <p:cNvSpPr txBox="1"/>
          <p:nvPr>
            <p:ph type="ctrTitle"/>
          </p:nvPr>
        </p:nvSpPr>
        <p:spPr>
          <a:xfrm>
            <a:off x="972600" y="1763267"/>
            <a:ext cx="10250700" cy="2219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p:txBody>
      </p:sp>
      <p:sp>
        <p:nvSpPr>
          <p:cNvPr id="33" name="Google Shape;33;g39698cb6222_0_64"/>
          <p:cNvSpPr txBox="1"/>
          <p:nvPr>
            <p:ph idx="1" type="subTitle"/>
          </p:nvPr>
        </p:nvSpPr>
        <p:spPr>
          <a:xfrm>
            <a:off x="972837" y="4230533"/>
            <a:ext cx="10250700" cy="721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34" name="Google Shape;34;g39698cb6222_0_64"/>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5" name="Shape 35"/>
        <p:cNvGrpSpPr/>
        <p:nvPr/>
      </p:nvGrpSpPr>
      <p:grpSpPr>
        <a:xfrm>
          <a:off x="0" y="0"/>
          <a:ext cx="0" cy="0"/>
          <a:chOff x="0" y="0"/>
          <a:chExt cx="0" cy="0"/>
        </a:xfrm>
      </p:grpSpPr>
      <p:grpSp>
        <p:nvGrpSpPr>
          <p:cNvPr id="36" name="Google Shape;36;g39698cb6222_0_72"/>
          <p:cNvGrpSpPr/>
          <p:nvPr/>
        </p:nvGrpSpPr>
        <p:grpSpPr>
          <a:xfrm>
            <a:off x="1107036" y="1588427"/>
            <a:ext cx="994316" cy="61102"/>
            <a:chOff x="4580561" y="2589004"/>
            <a:chExt cx="1064464" cy="25200"/>
          </a:xfrm>
        </p:grpSpPr>
        <p:sp>
          <p:nvSpPr>
            <p:cNvPr id="37" name="Google Shape;37;g39698cb6222_0_72"/>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g39698cb6222_0_72"/>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 name="Google Shape;39;g39698cb6222_0_72"/>
          <p:cNvSpPr txBox="1"/>
          <p:nvPr>
            <p:ph type="title"/>
          </p:nvPr>
        </p:nvSpPr>
        <p:spPr>
          <a:xfrm>
            <a:off x="972600" y="1763267"/>
            <a:ext cx="10251300" cy="2024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40" name="Google Shape;40;g39698cb6222_0_72"/>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g39698cb6222_0_78"/>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 name="Google Shape;43;g39698cb6222_0_78"/>
          <p:cNvGrpSpPr/>
          <p:nvPr/>
        </p:nvGrpSpPr>
        <p:grpSpPr>
          <a:xfrm>
            <a:off x="1107036" y="1588427"/>
            <a:ext cx="994316" cy="61102"/>
            <a:chOff x="4580561" y="2589004"/>
            <a:chExt cx="1064464" cy="25200"/>
          </a:xfrm>
        </p:grpSpPr>
        <p:sp>
          <p:nvSpPr>
            <p:cNvPr id="44" name="Google Shape;44;g39698cb6222_0_78"/>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g39698cb6222_0_78"/>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g39698cb6222_0_78"/>
          <p:cNvSpPr txBox="1"/>
          <p:nvPr>
            <p:ph type="title"/>
          </p:nvPr>
        </p:nvSpPr>
        <p:spPr>
          <a:xfrm>
            <a:off x="972600" y="1758200"/>
            <a:ext cx="10251600" cy="713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47" name="Google Shape;47;g39698cb6222_0_78"/>
          <p:cNvSpPr txBox="1"/>
          <p:nvPr>
            <p:ph idx="1" type="body"/>
          </p:nvPr>
        </p:nvSpPr>
        <p:spPr>
          <a:xfrm>
            <a:off x="972600" y="2771833"/>
            <a:ext cx="10251600" cy="3014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48" name="Google Shape;48;g39698cb6222_0_78"/>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39698cb6222_0_86"/>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g39698cb6222_0_86"/>
          <p:cNvGrpSpPr/>
          <p:nvPr/>
        </p:nvGrpSpPr>
        <p:grpSpPr>
          <a:xfrm>
            <a:off x="1107036" y="1588427"/>
            <a:ext cx="994316" cy="61102"/>
            <a:chOff x="4580561" y="2589004"/>
            <a:chExt cx="1064464" cy="25200"/>
          </a:xfrm>
        </p:grpSpPr>
        <p:sp>
          <p:nvSpPr>
            <p:cNvPr id="52" name="Google Shape;52;g39698cb6222_0_86"/>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g39698cb6222_0_86"/>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g39698cb6222_0_86"/>
          <p:cNvSpPr txBox="1"/>
          <p:nvPr>
            <p:ph type="title"/>
          </p:nvPr>
        </p:nvSpPr>
        <p:spPr>
          <a:xfrm>
            <a:off x="972600" y="1758200"/>
            <a:ext cx="10251300" cy="713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55" name="Google Shape;55;g39698cb6222_0_86"/>
          <p:cNvSpPr txBox="1"/>
          <p:nvPr>
            <p:ph idx="1" type="body"/>
          </p:nvPr>
        </p:nvSpPr>
        <p:spPr>
          <a:xfrm>
            <a:off x="972434" y="2771833"/>
            <a:ext cx="5032500" cy="3014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56" name="Google Shape;56;g39698cb6222_0_86"/>
          <p:cNvSpPr txBox="1"/>
          <p:nvPr>
            <p:ph idx="2" type="body"/>
          </p:nvPr>
        </p:nvSpPr>
        <p:spPr>
          <a:xfrm>
            <a:off x="6191471" y="2771833"/>
            <a:ext cx="5032500" cy="3014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57" name="Google Shape;57;g39698cb6222_0_86"/>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g39698cb6222_0_95"/>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 name="Google Shape;60;g39698cb6222_0_95"/>
          <p:cNvGrpSpPr/>
          <p:nvPr/>
        </p:nvGrpSpPr>
        <p:grpSpPr>
          <a:xfrm>
            <a:off x="1107036" y="1588427"/>
            <a:ext cx="994316" cy="61102"/>
            <a:chOff x="4580561" y="2589004"/>
            <a:chExt cx="1064464" cy="25200"/>
          </a:xfrm>
        </p:grpSpPr>
        <p:sp>
          <p:nvSpPr>
            <p:cNvPr id="61" name="Google Shape;61;g39698cb6222_0_95"/>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9698cb6222_0_95"/>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g39698cb6222_0_95"/>
          <p:cNvSpPr txBox="1"/>
          <p:nvPr>
            <p:ph type="title"/>
          </p:nvPr>
        </p:nvSpPr>
        <p:spPr>
          <a:xfrm>
            <a:off x="972600" y="1758200"/>
            <a:ext cx="10251300" cy="713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64" name="Google Shape;64;g39698cb6222_0_95"/>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39698cb6222_0_102"/>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 name="Google Shape;67;g39698cb6222_0_102"/>
          <p:cNvGrpSpPr/>
          <p:nvPr/>
        </p:nvGrpSpPr>
        <p:grpSpPr>
          <a:xfrm>
            <a:off x="1107036" y="1588427"/>
            <a:ext cx="994316" cy="61102"/>
            <a:chOff x="4580561" y="2589004"/>
            <a:chExt cx="1064464" cy="25200"/>
          </a:xfrm>
        </p:grpSpPr>
        <p:sp>
          <p:nvSpPr>
            <p:cNvPr id="68" name="Google Shape;68;g39698cb6222_0_102"/>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9698cb6222_0_102"/>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 name="Google Shape;70;g39698cb6222_0_102"/>
          <p:cNvSpPr txBox="1"/>
          <p:nvPr>
            <p:ph type="title"/>
          </p:nvPr>
        </p:nvSpPr>
        <p:spPr>
          <a:xfrm>
            <a:off x="973333" y="1758200"/>
            <a:ext cx="4401300" cy="18420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71" name="Google Shape;71;g39698cb6222_0_102"/>
          <p:cNvSpPr txBox="1"/>
          <p:nvPr>
            <p:ph idx="1" type="body"/>
          </p:nvPr>
        </p:nvSpPr>
        <p:spPr>
          <a:xfrm>
            <a:off x="961633" y="3708967"/>
            <a:ext cx="4401300" cy="21300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72" name="Google Shape;72;g39698cb6222_0_102"/>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73" name="Shape 73"/>
        <p:cNvGrpSpPr/>
        <p:nvPr/>
      </p:nvGrpSpPr>
      <p:grpSpPr>
        <a:xfrm>
          <a:off x="0" y="0"/>
          <a:ext cx="0" cy="0"/>
          <a:chOff x="0" y="0"/>
          <a:chExt cx="0" cy="0"/>
        </a:xfrm>
      </p:grpSpPr>
      <p:grpSp>
        <p:nvGrpSpPr>
          <p:cNvPr id="74" name="Google Shape;74;g39698cb6222_0_110"/>
          <p:cNvGrpSpPr/>
          <p:nvPr/>
        </p:nvGrpSpPr>
        <p:grpSpPr>
          <a:xfrm>
            <a:off x="1107036" y="5558926"/>
            <a:ext cx="994316" cy="61102"/>
            <a:chOff x="4580561" y="2589004"/>
            <a:chExt cx="1064464" cy="25200"/>
          </a:xfrm>
        </p:grpSpPr>
        <p:sp>
          <p:nvSpPr>
            <p:cNvPr id="75" name="Google Shape;75;g39698cb6222_0_110"/>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g39698cb6222_0_110"/>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g39698cb6222_0_110"/>
          <p:cNvSpPr txBox="1"/>
          <p:nvPr>
            <p:ph type="title"/>
          </p:nvPr>
        </p:nvSpPr>
        <p:spPr>
          <a:xfrm>
            <a:off x="972600" y="1152400"/>
            <a:ext cx="9361500" cy="39801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78" name="Google Shape;78;g39698cb6222_0_110"/>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g39698cb6222_0_116"/>
          <p:cNvSpPr/>
          <p:nvPr/>
        </p:nvSpPr>
        <p:spPr>
          <a:xfrm>
            <a:off x="0" y="0"/>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1" name="Google Shape;81;g39698cb6222_0_116"/>
          <p:cNvGrpSpPr/>
          <p:nvPr/>
        </p:nvGrpSpPr>
        <p:grpSpPr>
          <a:xfrm>
            <a:off x="1107036" y="1588427"/>
            <a:ext cx="994316" cy="61102"/>
            <a:chOff x="4580561" y="2589004"/>
            <a:chExt cx="1064464" cy="25200"/>
          </a:xfrm>
        </p:grpSpPr>
        <p:sp>
          <p:nvSpPr>
            <p:cNvPr id="82" name="Google Shape;82;g39698cb6222_0_116"/>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39698cb6222_0_116"/>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g39698cb6222_0_116"/>
          <p:cNvSpPr txBox="1"/>
          <p:nvPr>
            <p:ph type="title"/>
          </p:nvPr>
        </p:nvSpPr>
        <p:spPr>
          <a:xfrm>
            <a:off x="973333" y="1758200"/>
            <a:ext cx="4401300" cy="2249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85" name="Google Shape;85;g39698cb6222_0_116"/>
          <p:cNvSpPr txBox="1"/>
          <p:nvPr>
            <p:ph idx="1" type="subTitle"/>
          </p:nvPr>
        </p:nvSpPr>
        <p:spPr>
          <a:xfrm>
            <a:off x="966600" y="4215367"/>
            <a:ext cx="4401300" cy="10119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86" name="Google Shape;86;g39698cb6222_0_116"/>
          <p:cNvSpPr txBox="1"/>
          <p:nvPr>
            <p:ph idx="2" type="body"/>
          </p:nvPr>
        </p:nvSpPr>
        <p:spPr>
          <a:xfrm>
            <a:off x="6898967" y="1803500"/>
            <a:ext cx="4499100" cy="40341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87" name="Google Shape;87;g39698cb6222_0_116"/>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g39698cb6222_0_125"/>
          <p:cNvSpPr txBox="1"/>
          <p:nvPr>
            <p:ph idx="1" type="body"/>
          </p:nvPr>
        </p:nvSpPr>
        <p:spPr>
          <a:xfrm>
            <a:off x="966600" y="5830068"/>
            <a:ext cx="10263300" cy="6141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1700"/>
              <a:buNone/>
              <a:defRPr/>
            </a:lvl1pPr>
          </a:lstStyle>
          <a:p/>
        </p:txBody>
      </p:sp>
      <p:sp>
        <p:nvSpPr>
          <p:cNvPr id="90" name="Google Shape;90;g39698cb6222_0_125"/>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91" name="Shape 91"/>
        <p:cNvGrpSpPr/>
        <p:nvPr/>
      </p:nvGrpSpPr>
      <p:grpSpPr>
        <a:xfrm>
          <a:off x="0" y="0"/>
          <a:ext cx="0" cy="0"/>
          <a:chOff x="0" y="0"/>
          <a:chExt cx="0" cy="0"/>
        </a:xfrm>
      </p:grpSpPr>
      <p:grpSp>
        <p:nvGrpSpPr>
          <p:cNvPr id="92" name="Google Shape;92;g39698cb6222_0_128"/>
          <p:cNvGrpSpPr/>
          <p:nvPr/>
        </p:nvGrpSpPr>
        <p:grpSpPr>
          <a:xfrm>
            <a:off x="1107036" y="5558926"/>
            <a:ext cx="994316" cy="61102"/>
            <a:chOff x="4580561" y="2589004"/>
            <a:chExt cx="1064464" cy="25200"/>
          </a:xfrm>
        </p:grpSpPr>
        <p:sp>
          <p:nvSpPr>
            <p:cNvPr id="93" name="Google Shape;93;g39698cb6222_0_128"/>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39698cb6222_0_128"/>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g39698cb6222_0_128"/>
          <p:cNvSpPr txBox="1"/>
          <p:nvPr>
            <p:ph hasCustomPrompt="1" type="title"/>
          </p:nvPr>
        </p:nvSpPr>
        <p:spPr>
          <a:xfrm>
            <a:off x="972600" y="978600"/>
            <a:ext cx="10251300" cy="16596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10700"/>
              <a:buNone/>
              <a:defRPr sz="10700">
                <a:solidFill>
                  <a:schemeClr val="lt1"/>
                </a:solidFill>
              </a:defRPr>
            </a:lvl1pPr>
            <a:lvl2pPr lvl="1" algn="l">
              <a:lnSpc>
                <a:spcPct val="100000"/>
              </a:lnSpc>
              <a:spcBef>
                <a:spcPts val="0"/>
              </a:spcBef>
              <a:spcAft>
                <a:spcPts val="0"/>
              </a:spcAft>
              <a:buClr>
                <a:schemeClr val="lt1"/>
              </a:buClr>
              <a:buSzPts val="10700"/>
              <a:buNone/>
              <a:defRPr sz="10700">
                <a:solidFill>
                  <a:schemeClr val="lt1"/>
                </a:solidFill>
              </a:defRPr>
            </a:lvl2pPr>
            <a:lvl3pPr lvl="2" algn="l">
              <a:lnSpc>
                <a:spcPct val="100000"/>
              </a:lnSpc>
              <a:spcBef>
                <a:spcPts val="0"/>
              </a:spcBef>
              <a:spcAft>
                <a:spcPts val="0"/>
              </a:spcAft>
              <a:buClr>
                <a:schemeClr val="lt1"/>
              </a:buClr>
              <a:buSzPts val="10700"/>
              <a:buNone/>
              <a:defRPr sz="10700">
                <a:solidFill>
                  <a:schemeClr val="lt1"/>
                </a:solidFill>
              </a:defRPr>
            </a:lvl3pPr>
            <a:lvl4pPr lvl="3" algn="l">
              <a:lnSpc>
                <a:spcPct val="100000"/>
              </a:lnSpc>
              <a:spcBef>
                <a:spcPts val="0"/>
              </a:spcBef>
              <a:spcAft>
                <a:spcPts val="0"/>
              </a:spcAft>
              <a:buClr>
                <a:schemeClr val="lt1"/>
              </a:buClr>
              <a:buSzPts val="10700"/>
              <a:buNone/>
              <a:defRPr sz="10700">
                <a:solidFill>
                  <a:schemeClr val="lt1"/>
                </a:solidFill>
              </a:defRPr>
            </a:lvl4pPr>
            <a:lvl5pPr lvl="4" algn="l">
              <a:lnSpc>
                <a:spcPct val="100000"/>
              </a:lnSpc>
              <a:spcBef>
                <a:spcPts val="0"/>
              </a:spcBef>
              <a:spcAft>
                <a:spcPts val="0"/>
              </a:spcAft>
              <a:buClr>
                <a:schemeClr val="lt1"/>
              </a:buClr>
              <a:buSzPts val="10700"/>
              <a:buNone/>
              <a:defRPr sz="10700">
                <a:solidFill>
                  <a:schemeClr val="lt1"/>
                </a:solidFill>
              </a:defRPr>
            </a:lvl5pPr>
            <a:lvl6pPr lvl="5" algn="l">
              <a:lnSpc>
                <a:spcPct val="100000"/>
              </a:lnSpc>
              <a:spcBef>
                <a:spcPts val="0"/>
              </a:spcBef>
              <a:spcAft>
                <a:spcPts val="0"/>
              </a:spcAft>
              <a:buClr>
                <a:schemeClr val="lt1"/>
              </a:buClr>
              <a:buSzPts val="10700"/>
              <a:buNone/>
              <a:defRPr sz="10700">
                <a:solidFill>
                  <a:schemeClr val="lt1"/>
                </a:solidFill>
              </a:defRPr>
            </a:lvl6pPr>
            <a:lvl7pPr lvl="6" algn="l">
              <a:lnSpc>
                <a:spcPct val="100000"/>
              </a:lnSpc>
              <a:spcBef>
                <a:spcPts val="0"/>
              </a:spcBef>
              <a:spcAft>
                <a:spcPts val="0"/>
              </a:spcAft>
              <a:buClr>
                <a:schemeClr val="lt1"/>
              </a:buClr>
              <a:buSzPts val="10700"/>
              <a:buNone/>
              <a:defRPr sz="10700">
                <a:solidFill>
                  <a:schemeClr val="lt1"/>
                </a:solidFill>
              </a:defRPr>
            </a:lvl7pPr>
            <a:lvl8pPr lvl="7" algn="l">
              <a:lnSpc>
                <a:spcPct val="100000"/>
              </a:lnSpc>
              <a:spcBef>
                <a:spcPts val="0"/>
              </a:spcBef>
              <a:spcAft>
                <a:spcPts val="0"/>
              </a:spcAft>
              <a:buClr>
                <a:schemeClr val="lt1"/>
              </a:buClr>
              <a:buSzPts val="10700"/>
              <a:buNone/>
              <a:defRPr sz="10700">
                <a:solidFill>
                  <a:schemeClr val="lt1"/>
                </a:solidFill>
              </a:defRPr>
            </a:lvl8pPr>
            <a:lvl9pPr lvl="8" algn="l">
              <a:lnSpc>
                <a:spcPct val="100000"/>
              </a:lnSpc>
              <a:spcBef>
                <a:spcPts val="0"/>
              </a:spcBef>
              <a:spcAft>
                <a:spcPts val="0"/>
              </a:spcAft>
              <a:buClr>
                <a:schemeClr val="lt1"/>
              </a:buClr>
              <a:buSzPts val="10700"/>
              <a:buNone/>
              <a:defRPr sz="10700">
                <a:solidFill>
                  <a:schemeClr val="lt1"/>
                </a:solidFill>
              </a:defRPr>
            </a:lvl9pPr>
          </a:lstStyle>
          <a:p>
            <a:r>
              <a:t>xx%</a:t>
            </a:r>
          </a:p>
        </p:txBody>
      </p:sp>
      <p:sp>
        <p:nvSpPr>
          <p:cNvPr id="96" name="Google Shape;96;g39698cb6222_0_128"/>
          <p:cNvSpPr txBox="1"/>
          <p:nvPr>
            <p:ph idx="1" type="body"/>
          </p:nvPr>
        </p:nvSpPr>
        <p:spPr>
          <a:xfrm>
            <a:off x="972600" y="3030517"/>
            <a:ext cx="10251300" cy="21072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vl2pPr indent="-323850" lvl="1" marL="914400" algn="l">
              <a:lnSpc>
                <a:spcPct val="115000"/>
              </a:lnSpc>
              <a:spcBef>
                <a:spcPts val="0"/>
              </a:spcBef>
              <a:spcAft>
                <a:spcPts val="0"/>
              </a:spcAft>
              <a:buClr>
                <a:schemeClr val="lt1"/>
              </a:buClr>
              <a:buSzPts val="1500"/>
              <a:buChar char="○"/>
              <a:defRPr>
                <a:solidFill>
                  <a:schemeClr val="lt1"/>
                </a:solidFill>
              </a:defRPr>
            </a:lvl2pPr>
            <a:lvl3pPr indent="-323850" lvl="2" marL="1371600" algn="l">
              <a:lnSpc>
                <a:spcPct val="115000"/>
              </a:lnSpc>
              <a:spcBef>
                <a:spcPts val="0"/>
              </a:spcBef>
              <a:spcAft>
                <a:spcPts val="0"/>
              </a:spcAft>
              <a:buClr>
                <a:schemeClr val="lt1"/>
              </a:buClr>
              <a:buSzPts val="1500"/>
              <a:buChar char="■"/>
              <a:defRPr>
                <a:solidFill>
                  <a:schemeClr val="lt1"/>
                </a:solidFill>
              </a:defRPr>
            </a:lvl3pPr>
            <a:lvl4pPr indent="-323850" lvl="3" marL="1828800" algn="l">
              <a:lnSpc>
                <a:spcPct val="115000"/>
              </a:lnSpc>
              <a:spcBef>
                <a:spcPts val="0"/>
              </a:spcBef>
              <a:spcAft>
                <a:spcPts val="0"/>
              </a:spcAft>
              <a:buClr>
                <a:schemeClr val="lt1"/>
              </a:buClr>
              <a:buSzPts val="1500"/>
              <a:buChar char="●"/>
              <a:defRPr>
                <a:solidFill>
                  <a:schemeClr val="lt1"/>
                </a:solidFill>
              </a:defRPr>
            </a:lvl4pPr>
            <a:lvl5pPr indent="-323850" lvl="4" marL="2286000" algn="l">
              <a:lnSpc>
                <a:spcPct val="115000"/>
              </a:lnSpc>
              <a:spcBef>
                <a:spcPts val="0"/>
              </a:spcBef>
              <a:spcAft>
                <a:spcPts val="0"/>
              </a:spcAft>
              <a:buClr>
                <a:schemeClr val="lt1"/>
              </a:buClr>
              <a:buSzPts val="1500"/>
              <a:buChar char="○"/>
              <a:defRPr>
                <a:solidFill>
                  <a:schemeClr val="lt1"/>
                </a:solidFill>
              </a:defRPr>
            </a:lvl5pPr>
            <a:lvl6pPr indent="-323850" lvl="5" marL="2743200" algn="l">
              <a:lnSpc>
                <a:spcPct val="115000"/>
              </a:lnSpc>
              <a:spcBef>
                <a:spcPts val="0"/>
              </a:spcBef>
              <a:spcAft>
                <a:spcPts val="0"/>
              </a:spcAft>
              <a:buClr>
                <a:schemeClr val="lt1"/>
              </a:buClr>
              <a:buSzPts val="1500"/>
              <a:buChar char="■"/>
              <a:defRPr>
                <a:solidFill>
                  <a:schemeClr val="lt1"/>
                </a:solidFill>
              </a:defRPr>
            </a:lvl6pPr>
            <a:lvl7pPr indent="-323850" lvl="6" marL="3200400" algn="l">
              <a:lnSpc>
                <a:spcPct val="115000"/>
              </a:lnSpc>
              <a:spcBef>
                <a:spcPts val="0"/>
              </a:spcBef>
              <a:spcAft>
                <a:spcPts val="0"/>
              </a:spcAft>
              <a:buClr>
                <a:schemeClr val="lt1"/>
              </a:buClr>
              <a:buSzPts val="1500"/>
              <a:buChar char="●"/>
              <a:defRPr>
                <a:solidFill>
                  <a:schemeClr val="lt1"/>
                </a:solidFill>
              </a:defRPr>
            </a:lvl7pPr>
            <a:lvl8pPr indent="-323850" lvl="7" marL="3657600" algn="l">
              <a:lnSpc>
                <a:spcPct val="115000"/>
              </a:lnSpc>
              <a:spcBef>
                <a:spcPts val="0"/>
              </a:spcBef>
              <a:spcAft>
                <a:spcPts val="0"/>
              </a:spcAft>
              <a:buClr>
                <a:schemeClr val="lt1"/>
              </a:buClr>
              <a:buSzPts val="1500"/>
              <a:buChar char="○"/>
              <a:defRPr>
                <a:solidFill>
                  <a:schemeClr val="lt1"/>
                </a:solidFill>
              </a:defRPr>
            </a:lvl8pPr>
            <a:lvl9pPr indent="-323850" lvl="8" marL="4114800" algn="l">
              <a:lnSpc>
                <a:spcPct val="115000"/>
              </a:lnSpc>
              <a:spcBef>
                <a:spcPts val="0"/>
              </a:spcBef>
              <a:spcAft>
                <a:spcPts val="0"/>
              </a:spcAft>
              <a:buClr>
                <a:schemeClr val="lt1"/>
              </a:buClr>
              <a:buSzPts val="1500"/>
              <a:buChar char="■"/>
              <a:defRPr>
                <a:solidFill>
                  <a:schemeClr val="lt1"/>
                </a:solidFill>
              </a:defRPr>
            </a:lvl9pPr>
          </a:lstStyle>
          <a:p/>
        </p:txBody>
      </p:sp>
      <p:sp>
        <p:nvSpPr>
          <p:cNvPr id="97" name="Google Shape;97;g39698cb6222_0_128"/>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g39698cb6222_0_6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9pPr>
          </a:lstStyle>
          <a:p/>
        </p:txBody>
      </p:sp>
      <p:sp>
        <p:nvSpPr>
          <p:cNvPr id="11" name="Google Shape;11;g39698cb6222_0_6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marR="0" rtl="0" algn="l">
              <a:lnSpc>
                <a:spcPct val="115000"/>
              </a:lnSpc>
              <a:spcBef>
                <a:spcPts val="0"/>
              </a:spcBef>
              <a:spcAft>
                <a:spcPts val="0"/>
              </a:spcAft>
              <a:buClr>
                <a:schemeClr val="accent1"/>
              </a:buClr>
              <a:buSzPts val="1700"/>
              <a:buFont typeface="Lato"/>
              <a:buChar char="●"/>
              <a:defRPr b="0" i="0" sz="1700" u="none" cap="none" strike="noStrike">
                <a:solidFill>
                  <a:schemeClr val="accent1"/>
                </a:solidFill>
                <a:latin typeface="Lato"/>
                <a:ea typeface="Lato"/>
                <a:cs typeface="Lato"/>
                <a:sym typeface="Lato"/>
              </a:defRPr>
            </a:lvl1pPr>
            <a:lvl2pPr indent="-323850" lvl="1" marL="9144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2pPr>
            <a:lvl3pPr indent="-323850" lvl="2" marL="13716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3pPr>
            <a:lvl4pPr indent="-323850" lvl="3" marL="18288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4pPr>
            <a:lvl5pPr indent="-323850" lvl="4" marL="22860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5pPr>
            <a:lvl6pPr indent="-323850" lvl="5" marL="27432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6pPr>
            <a:lvl7pPr indent="-323850" lvl="6" marL="32004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7pPr>
            <a:lvl8pPr indent="-323850" lvl="7" marL="36576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8pPr>
            <a:lvl9pPr indent="-323850" lvl="8" marL="41148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9pPr>
          </a:lstStyle>
          <a:p/>
        </p:txBody>
      </p:sp>
      <p:sp>
        <p:nvSpPr>
          <p:cNvPr id="12" name="Google Shape;12;g39698cb6222_0_60"/>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jp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about:blank" TargetMode="External"/><Relationship Id="rId4" Type="http://schemas.openxmlformats.org/officeDocument/2006/relationships/hyperlink" Target="http://diagramas.pdf" TargetMode="External"/><Relationship Id="rId5" Type="http://schemas.openxmlformats.org/officeDocument/2006/relationships/image" Target="../media/image6.jpg"/><Relationship Id="rId6"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102" name="Shape 102"/>
        <p:cNvGrpSpPr/>
        <p:nvPr/>
      </p:nvGrpSpPr>
      <p:grpSpPr>
        <a:xfrm>
          <a:off x="0" y="0"/>
          <a:ext cx="0" cy="0"/>
          <a:chOff x="0" y="0"/>
          <a:chExt cx="0" cy="0"/>
        </a:xfrm>
      </p:grpSpPr>
      <p:sp>
        <p:nvSpPr>
          <p:cNvPr id="103" name="Google Shape;103;p1"/>
          <p:cNvSpPr txBox="1"/>
          <p:nvPr/>
        </p:nvSpPr>
        <p:spPr>
          <a:xfrm>
            <a:off x="995422" y="2551837"/>
            <a:ext cx="64536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s-MX" sz="5400" u="none" cap="none" strike="noStrike">
                <a:solidFill>
                  <a:srgbClr val="3F3F3F"/>
                </a:solidFill>
                <a:latin typeface="Work Sans"/>
                <a:ea typeface="Work Sans"/>
                <a:cs typeface="Work Sans"/>
                <a:sym typeface="Work Sans"/>
              </a:rPr>
              <a:t>BakeAdmin</a:t>
            </a:r>
            <a:endParaRPr b="1" i="0" sz="4000" u="none" cap="none" strike="noStrike">
              <a:solidFill>
                <a:srgbClr val="3F3F3F"/>
              </a:solidFill>
              <a:latin typeface="Work Sans"/>
              <a:ea typeface="Work Sans"/>
              <a:cs typeface="Work Sans"/>
              <a:sym typeface="Work Sans"/>
            </a:endParaRPr>
          </a:p>
        </p:txBody>
      </p:sp>
      <p:sp>
        <p:nvSpPr>
          <p:cNvPr id="104" name="Google Shape;104;p1"/>
          <p:cNvSpPr txBox="1"/>
          <p:nvPr/>
        </p:nvSpPr>
        <p:spPr>
          <a:xfrm>
            <a:off x="6498769" y="2761818"/>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sp>
        <p:nvSpPr>
          <p:cNvPr id="105" name="Google Shape;105;p1"/>
          <p:cNvSpPr txBox="1"/>
          <p:nvPr/>
        </p:nvSpPr>
        <p:spPr>
          <a:xfrm>
            <a:off x="8500314" y="2761818"/>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1" title="images.png"/>
          <p:cNvPicPr preferRelativeResize="0"/>
          <p:nvPr/>
        </p:nvPicPr>
        <p:blipFill rotWithShape="1">
          <a:blip r:embed="rId3">
            <a:alphaModFix/>
          </a:blip>
          <a:srcRect b="0" l="0" r="0" t="0"/>
          <a:stretch/>
        </p:blipFill>
        <p:spPr>
          <a:xfrm>
            <a:off x="8500325" y="2761825"/>
            <a:ext cx="2001525" cy="1334350"/>
          </a:xfrm>
          <a:prstGeom prst="rect">
            <a:avLst/>
          </a:prstGeom>
          <a:noFill/>
          <a:ln>
            <a:noFill/>
          </a:ln>
        </p:spPr>
      </p:pic>
      <p:pic>
        <p:nvPicPr>
          <p:cNvPr id="107" name="Google Shape;107;p1" title="WhatsApp Image 2026-03-27 at 6.38.41 PM.jpeg"/>
          <p:cNvPicPr preferRelativeResize="0"/>
          <p:nvPr/>
        </p:nvPicPr>
        <p:blipFill rotWithShape="1">
          <a:blip r:embed="rId4">
            <a:alphaModFix/>
          </a:blip>
          <a:srcRect b="0" l="0" r="0" t="0"/>
          <a:stretch/>
        </p:blipFill>
        <p:spPr>
          <a:xfrm>
            <a:off x="6498775" y="2761825"/>
            <a:ext cx="2001550" cy="1334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2"/>
          <p:cNvSpPr txBox="1"/>
          <p:nvPr/>
        </p:nvSpPr>
        <p:spPr>
          <a:xfrm>
            <a:off x="3093849" y="912836"/>
            <a:ext cx="56877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s-MX" sz="7200" u="none" cap="none" strike="noStrike">
                <a:solidFill>
                  <a:schemeClr val="lt1"/>
                </a:solidFill>
                <a:latin typeface="Work Sans Light"/>
                <a:ea typeface="Work Sans Light"/>
                <a:cs typeface="Work Sans Light"/>
                <a:sym typeface="Work Sans Light"/>
              </a:rPr>
              <a:t>BakeAdmin</a:t>
            </a:r>
            <a:endParaRPr b="1" i="0" sz="1400" u="none" cap="none" strike="noStrike">
              <a:solidFill>
                <a:srgbClr val="000000"/>
              </a:solidFill>
              <a:latin typeface="Arial"/>
              <a:ea typeface="Arial"/>
              <a:cs typeface="Arial"/>
              <a:sym typeface="Arial"/>
            </a:endParaRPr>
          </a:p>
        </p:txBody>
      </p:sp>
      <p:cxnSp>
        <p:nvCxnSpPr>
          <p:cNvPr id="113" name="Google Shape;113;p2"/>
          <p:cNvCxnSpPr/>
          <p:nvPr/>
        </p:nvCxnSpPr>
        <p:spPr>
          <a:xfrm>
            <a:off x="5227899" y="3321934"/>
            <a:ext cx="1736203" cy="0"/>
          </a:xfrm>
          <a:prstGeom prst="straightConnector1">
            <a:avLst/>
          </a:prstGeom>
          <a:noFill/>
          <a:ln cap="flat" cmpd="sng" w="9525">
            <a:solidFill>
              <a:schemeClr val="lt1"/>
            </a:solidFill>
            <a:prstDash val="solid"/>
            <a:miter lim="800000"/>
            <a:headEnd len="sm" w="sm" type="none"/>
            <a:tailEnd len="sm" w="sm" type="none"/>
          </a:ln>
        </p:spPr>
      </p:cxnSp>
      <p:sp>
        <p:nvSpPr>
          <p:cNvPr id="114" name="Google Shape;114;p2"/>
          <p:cNvSpPr txBox="1"/>
          <p:nvPr/>
        </p:nvSpPr>
        <p:spPr>
          <a:xfrm>
            <a:off x="4168816" y="3463724"/>
            <a:ext cx="3854400" cy="8309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lt1"/>
                </a:solidFill>
                <a:latin typeface="Work Sans Light"/>
                <a:ea typeface="Work Sans Light"/>
                <a:cs typeface="Work Sans Light"/>
                <a:sym typeface="Work Sans Light"/>
              </a:rPr>
              <a:t>Alfonso Romero Santiago</a:t>
            </a:r>
            <a:endParaRPr b="0" i="0" sz="1600" u="none" cap="none" strike="noStrike">
              <a:solidFill>
                <a:schemeClr val="lt1"/>
              </a:solidFill>
              <a:latin typeface="Work Sans Light"/>
              <a:ea typeface="Work Sans Light"/>
              <a:cs typeface="Work Sans Light"/>
              <a:sym typeface="Work Sans Light"/>
            </a:endParaRPr>
          </a:p>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lt1"/>
                </a:solidFill>
                <a:latin typeface="Work Sans Light"/>
                <a:ea typeface="Work Sans Light"/>
                <a:cs typeface="Work Sans Light"/>
                <a:sym typeface="Work Sans Light"/>
              </a:rPr>
              <a:t>Maicol Esneider Ortiz Lopez</a:t>
            </a:r>
            <a:endParaRPr b="0" i="0" sz="1600" u="none" cap="none" strike="noStrike">
              <a:solidFill>
                <a:schemeClr val="lt1"/>
              </a:solidFill>
              <a:latin typeface="Work Sans Light"/>
              <a:ea typeface="Work Sans Light"/>
              <a:cs typeface="Work Sans Light"/>
              <a:sym typeface="Work Sans Light"/>
            </a:endParaRPr>
          </a:p>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lt1"/>
                </a:solidFill>
                <a:latin typeface="Work Sans Light"/>
                <a:ea typeface="Work Sans Light"/>
                <a:cs typeface="Work Sans Light"/>
                <a:sym typeface="Work Sans Light"/>
              </a:rPr>
              <a:t>Soto Vera Duberney</a:t>
            </a:r>
            <a:endParaRPr b="0" i="0" sz="1600" u="none" cap="none" strike="noStrike">
              <a:solidFill>
                <a:schemeClr val="lt1"/>
              </a:solidFill>
              <a:latin typeface="Work Sans Light"/>
              <a:ea typeface="Work Sans Light"/>
              <a:cs typeface="Work Sans Light"/>
              <a:sym typeface="Work Sans Light"/>
            </a:endParaRPr>
          </a:p>
        </p:txBody>
      </p:sp>
      <p:sp>
        <p:nvSpPr>
          <p:cNvPr id="115" name="Google Shape;115;p2"/>
          <p:cNvSpPr txBox="1"/>
          <p:nvPr/>
        </p:nvSpPr>
        <p:spPr>
          <a:xfrm>
            <a:off x="1068888" y="5279998"/>
            <a:ext cx="10054224"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Servicio Nacional de Aprendizaje –SENA, Centro de Electricidad Electrónica y Telecomunicaciones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Tecnologo en Analisis y Desarrollo de Software- TPS, Primer Trimestre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Instructor Albeiro Ramos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Bogotá, 25 de marzo de 2023</a:t>
            </a:r>
            <a:endParaRPr b="1" i="0" sz="1600" u="none" cap="none" strike="noStrike">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3"/>
          <p:cNvSpPr/>
          <p:nvPr/>
        </p:nvSpPr>
        <p:spPr>
          <a:xfrm>
            <a:off x="582698" y="479530"/>
            <a:ext cx="2939970"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3"/>
          <p:cNvSpPr txBox="1"/>
          <p:nvPr/>
        </p:nvSpPr>
        <p:spPr>
          <a:xfrm>
            <a:off x="521373" y="193622"/>
            <a:ext cx="351474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Light"/>
              <a:buNone/>
            </a:pPr>
            <a:r>
              <a:rPr b="1" i="0" lang="es-MX" sz="3600" u="none" cap="none" strike="noStrike">
                <a:solidFill>
                  <a:schemeClr val="dk2"/>
                </a:solidFill>
                <a:latin typeface="Work Sans Light"/>
                <a:ea typeface="Work Sans Light"/>
                <a:cs typeface="Work Sans Light"/>
                <a:sym typeface="Work Sans Light"/>
              </a:rPr>
              <a:t>Introducción</a:t>
            </a:r>
            <a:endParaRPr b="1" i="0" sz="1400" u="none" cap="none" strike="noStrike">
              <a:solidFill>
                <a:schemeClr val="dk2"/>
              </a:solidFill>
              <a:latin typeface="Arial"/>
              <a:ea typeface="Arial"/>
              <a:cs typeface="Arial"/>
              <a:sym typeface="Arial"/>
            </a:endParaRPr>
          </a:p>
        </p:txBody>
      </p:sp>
      <p:sp>
        <p:nvSpPr>
          <p:cNvPr id="122" name="Google Shape;122;p3"/>
          <p:cNvSpPr txBox="1"/>
          <p:nvPr/>
        </p:nvSpPr>
        <p:spPr>
          <a:xfrm>
            <a:off x="521373" y="1516613"/>
            <a:ext cx="5404500" cy="421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El presente proyecto se </a:t>
            </a:r>
            <a:r>
              <a:rPr lang="es-MX" sz="1800"/>
              <a:t>desarrolla</a:t>
            </a:r>
            <a:r>
              <a:rPr lang="es-MX" sz="1800"/>
              <a:t> </a:t>
            </a:r>
            <a:r>
              <a:rPr b="0" i="0" lang="es-MX" sz="1800" u="none" cap="none" strike="noStrike">
                <a:solidFill>
                  <a:srgbClr val="000000"/>
                </a:solidFill>
                <a:latin typeface="Arial"/>
                <a:ea typeface="Arial"/>
                <a:cs typeface="Arial"/>
                <a:sym typeface="Arial"/>
              </a:rPr>
              <a:t>específicamente en la Empresa </a:t>
            </a:r>
            <a:r>
              <a:rPr b="1" i="0" lang="es-MX" sz="1800" u="none" cap="none" strike="noStrike">
                <a:solidFill>
                  <a:srgbClr val="000000"/>
                </a:solidFill>
                <a:latin typeface="Arial"/>
                <a:ea typeface="Arial"/>
                <a:cs typeface="Arial"/>
                <a:sym typeface="Arial"/>
              </a:rPr>
              <a:t>Coffee Park</a:t>
            </a:r>
            <a:r>
              <a:rPr b="0" i="0" lang="es-MX" sz="1800" u="none" cap="none" strike="noStrike">
                <a:solidFill>
                  <a:srgbClr val="000000"/>
                </a:solidFill>
                <a:latin typeface="Arial"/>
                <a:ea typeface="Arial"/>
                <a:cs typeface="Arial"/>
                <a:sym typeface="Arial"/>
              </a:rPr>
              <a:t>, dedicada a la producción y comercialización de productos de panadería. Surge con el propósito de mejorar la gestión de sus procesos internos mediante el uso de herramientas tecnológicas que optimicen la organización y el control de la información.</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En esta presentación se expone el problema identificado en la empresa, así como los objetivos, la justificación, el alcance y la delimitación del proyecto, enfocados en el desarrollo del sistema </a:t>
            </a:r>
            <a:r>
              <a:rPr b="1" i="0" lang="es-MX" sz="1800" u="none" cap="none" strike="noStrike">
                <a:solidFill>
                  <a:srgbClr val="000000"/>
                </a:solidFill>
                <a:latin typeface="Arial"/>
                <a:ea typeface="Arial"/>
                <a:cs typeface="Arial"/>
                <a:sym typeface="Arial"/>
              </a:rPr>
              <a:t>BakeAdmin</a:t>
            </a:r>
            <a:r>
              <a:rPr b="0" i="0" lang="es-MX" sz="1800" u="none" cap="none" strike="noStrike">
                <a:solidFill>
                  <a:srgbClr val="000000"/>
                </a:solidFill>
                <a:latin typeface="Arial"/>
                <a:ea typeface="Arial"/>
                <a:cs typeface="Arial"/>
                <a:sym typeface="Arial"/>
              </a:rPr>
              <a:t> como solución para optimizar los procesos operativos.</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pic>
        <p:nvPicPr>
          <p:cNvPr id="123" name="Google Shape;123;p3"/>
          <p:cNvPicPr preferRelativeResize="0"/>
          <p:nvPr/>
        </p:nvPicPr>
        <p:blipFill rotWithShape="1">
          <a:blip r:embed="rId4">
            <a:alphaModFix/>
          </a:blip>
          <a:srcRect b="0" l="0" r="0" t="0"/>
          <a:stretch/>
        </p:blipFill>
        <p:spPr>
          <a:xfrm>
            <a:off x="5810258" y="1516613"/>
            <a:ext cx="6381742" cy="39126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4"/>
          <p:cNvSpPr txBox="1"/>
          <p:nvPr/>
        </p:nvSpPr>
        <p:spPr>
          <a:xfrm>
            <a:off x="1967160" y="687956"/>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Work Sans Medium"/>
              <a:buNone/>
            </a:pPr>
            <a:r>
              <a:t/>
            </a:r>
            <a:endParaRPr b="0" i="0" sz="1400" u="none" cap="none" strike="noStrike">
              <a:solidFill>
                <a:srgbClr val="FF6839"/>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4400"/>
              <a:buFont typeface="Work Sans Medium"/>
              <a:buNone/>
            </a:pPr>
            <a:r>
              <a:rPr b="1" i="0" lang="es-MX" sz="4400" u="none" cap="none" strike="noStrike">
                <a:solidFill>
                  <a:schemeClr val="dk2"/>
                </a:solidFill>
                <a:latin typeface="Work Sans Medium"/>
                <a:ea typeface="Work Sans Medium"/>
                <a:cs typeface="Work Sans Medium"/>
                <a:sym typeface="Work Sans Medium"/>
              </a:rPr>
              <a:t>BakeAdmin</a:t>
            </a:r>
            <a:endParaRPr b="1" i="0" sz="1400" u="none" cap="none" strike="noStrike">
              <a:solidFill>
                <a:schemeClr val="dk2"/>
              </a:solidFill>
              <a:latin typeface="Arial"/>
              <a:ea typeface="Arial"/>
              <a:cs typeface="Arial"/>
              <a:sym typeface="Arial"/>
            </a:endParaRPr>
          </a:p>
        </p:txBody>
      </p:sp>
      <p:sp>
        <p:nvSpPr>
          <p:cNvPr id="129" name="Google Shape;129;p4"/>
          <p:cNvSpPr txBox="1"/>
          <p:nvPr/>
        </p:nvSpPr>
        <p:spPr>
          <a:xfrm>
            <a:off x="1263775" y="3237807"/>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130" name="Google Shape;130;p4"/>
          <p:cNvSpPr txBox="1"/>
          <p:nvPr/>
        </p:nvSpPr>
        <p:spPr>
          <a:xfrm>
            <a:off x="3265320" y="3237807"/>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31" name="Google Shape;131;p4"/>
          <p:cNvSpPr txBox="1"/>
          <p:nvPr/>
        </p:nvSpPr>
        <p:spPr>
          <a:xfrm>
            <a:off x="6653009" y="2381493"/>
            <a:ext cx="4547336"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Problema</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Objetivos</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Justificación</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Alcance</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Delimitación</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Entregables Trimestre</a:t>
            </a:r>
            <a:endParaRPr b="0" i="0" sz="1400" u="none" cap="none" strike="noStrike">
              <a:solidFill>
                <a:schemeClr val="lt1"/>
              </a:solidFill>
              <a:latin typeface="Arial"/>
              <a:ea typeface="Arial"/>
              <a:cs typeface="Arial"/>
              <a:sym typeface="Arial"/>
            </a:endParaRPr>
          </a:p>
        </p:txBody>
      </p:sp>
      <p:pic>
        <p:nvPicPr>
          <p:cNvPr id="132" name="Google Shape;132;p4" title="WhatsApp Image 2026-03-27 at 6.38.41 PM.jpeg"/>
          <p:cNvPicPr preferRelativeResize="0"/>
          <p:nvPr/>
        </p:nvPicPr>
        <p:blipFill rotWithShape="1">
          <a:blip r:embed="rId4">
            <a:alphaModFix/>
          </a:blip>
          <a:srcRect b="0" l="0" r="0" t="0"/>
          <a:stretch/>
        </p:blipFill>
        <p:spPr>
          <a:xfrm>
            <a:off x="1263775" y="3237813"/>
            <a:ext cx="2001550" cy="1334350"/>
          </a:xfrm>
          <a:prstGeom prst="rect">
            <a:avLst/>
          </a:prstGeom>
          <a:noFill/>
          <a:ln>
            <a:noFill/>
          </a:ln>
        </p:spPr>
      </p:pic>
      <p:pic>
        <p:nvPicPr>
          <p:cNvPr id="133" name="Google Shape;133;p4" title="images.png"/>
          <p:cNvPicPr preferRelativeResize="0"/>
          <p:nvPr/>
        </p:nvPicPr>
        <p:blipFill rotWithShape="1">
          <a:blip r:embed="rId5">
            <a:alphaModFix/>
          </a:blip>
          <a:srcRect b="0" l="0" r="0" t="0"/>
          <a:stretch/>
        </p:blipFill>
        <p:spPr>
          <a:xfrm>
            <a:off x="3265320" y="3237813"/>
            <a:ext cx="2001525" cy="1334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dk2"/>
                </a:solidFill>
                <a:latin typeface="Work Sans Medium"/>
                <a:ea typeface="Work Sans Medium"/>
                <a:cs typeface="Work Sans Medium"/>
                <a:sym typeface="Work Sans Medium"/>
              </a:rPr>
              <a:t>Problema</a:t>
            </a:r>
            <a:endParaRPr>
              <a:solidFill>
                <a:schemeClr val="dk2"/>
              </a:solidFill>
            </a:endParaRPr>
          </a:p>
        </p:txBody>
      </p:sp>
      <p:sp>
        <p:nvSpPr>
          <p:cNvPr id="139" name="Google Shape;139;p5"/>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140" name="Google Shape;140;p5"/>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41" name="Google Shape;141;p5"/>
          <p:cNvSpPr txBox="1"/>
          <p:nvPr/>
        </p:nvSpPr>
        <p:spPr>
          <a:xfrm>
            <a:off x="161338" y="1392247"/>
            <a:ext cx="11447400" cy="535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La empresa Inversiones SECAM S.A.S, ubicada al norte de la cuidad de Bogotá enfocada en la producción y comercialización de productos de panadería y cocina. Actualmente aunque cuentan con un software combina procesos manuales con herramientas digitales básicas como Excel y WhatsApp. Esta situación genera reprocesos, errores en la información y retrasos. La falta de integración limita la trazabilidad y el control. Se evidencia la necesidad de automatizar procesos.</a:t>
            </a:r>
            <a:endParaRPr/>
          </a:p>
          <a:p>
            <a:pPr indent="0" lvl="0" marL="0" marR="0" rtl="0" algn="l">
              <a:lnSpc>
                <a:spcPct val="100000"/>
              </a:lnSpc>
              <a:spcBef>
                <a:spcPts val="0"/>
              </a:spcBef>
              <a:spcAft>
                <a:spcPts val="0"/>
              </a:spcAft>
              <a:buNone/>
            </a:pPr>
            <a:br>
              <a:rPr b="0" i="0" lang="es-MX"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Los procesos a intervenir son: </a:t>
            </a:r>
            <a:r>
              <a:rPr lang="es-MX" sz="1800"/>
              <a:t>producción</a:t>
            </a:r>
            <a:r>
              <a:rPr b="0" i="0" lang="es-MX" sz="1800" u="none" cap="none" strike="noStrike">
                <a:solidFill>
                  <a:srgbClr val="000000"/>
                </a:solidFill>
                <a:latin typeface="Arial"/>
                <a:ea typeface="Arial"/>
                <a:cs typeface="Arial"/>
                <a:sym typeface="Arial"/>
              </a:rPr>
              <a:t>, compras a prove</a:t>
            </a:r>
            <a:r>
              <a:rPr lang="es-MX" sz="1800"/>
              <a:t>edores</a:t>
            </a:r>
            <a:r>
              <a:rPr b="0" i="0" lang="es-MX" sz="1800" u="none" cap="none" strike="noStrike">
                <a:solidFill>
                  <a:srgbClr val="000000"/>
                </a:solidFill>
                <a:latin typeface="Arial"/>
                <a:ea typeface="Arial"/>
                <a:cs typeface="Arial"/>
                <a:sym typeface="Arial"/>
              </a:rPr>
              <a:t> y domicilios. Estos procesos presentan fallas en el manejo de la información. Y el sistema de ellos funciona de la siguiente manera Tiene módulos de compras, ventas, almacén, genera informes de todo tipo (contables, ventas, almacén) lo único con lo que no cuenta es con nómina, es poco eficiente en temas de órdenes de pedidos, control de producción,  no cuenta con modulo de domicilios   y </a:t>
            </a:r>
            <a:r>
              <a:rPr lang="es-MX" sz="1800"/>
              <a:t>e</a:t>
            </a:r>
            <a:r>
              <a:rPr b="0" i="0" lang="es-MX" sz="1800" u="none" cap="none" strike="noStrike">
                <a:solidFill>
                  <a:srgbClr val="000000"/>
                </a:solidFill>
                <a:latin typeface="Arial"/>
                <a:ea typeface="Arial"/>
                <a:cs typeface="Arial"/>
                <a:sym typeface="Arial"/>
              </a:rPr>
              <a:t>xiste duplicidad de registros y dependencia de medios informales. La comunicación no es estructurada ni centralizada. Se identifican retrasos en el flujo de datos. Esto impacta la toma de decisiones y la eficiencia operativa.</a:t>
            </a:r>
            <a:endParaRPr/>
          </a:p>
          <a:p>
            <a:pPr indent="0" lvl="0" marL="0" marR="0" rtl="0" algn="l">
              <a:lnSpc>
                <a:spcPct val="100000"/>
              </a:lnSpc>
              <a:spcBef>
                <a:spcPts val="0"/>
              </a:spcBef>
              <a:spcAft>
                <a:spcPts val="0"/>
              </a:spcAft>
              <a:buNone/>
            </a:pPr>
            <a:br>
              <a:rPr b="0" i="0" lang="es-MX"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El análisis se realizo mediante . La aplicación de una entrevista a panaderos, cocineros, auxiliares contables y jefes de punto. También se utilizarán encuestas para conocer la percepción del personal. La observación directa que nos permitió evidenciar el flujo real de los procesos.</a:t>
            </a:r>
            <a:endParaRPr b="0" i="0" sz="1800" u="none" cap="none" strike="noStrike">
              <a:solidFill>
                <a:schemeClr val="dk2"/>
              </a:solidFill>
              <a:latin typeface="Arial"/>
              <a:ea typeface="Arial"/>
              <a:cs typeface="Arial"/>
              <a:sym typeface="Arial"/>
            </a:endParaRPr>
          </a:p>
        </p:txBody>
      </p:sp>
      <p:pic>
        <p:nvPicPr>
          <p:cNvPr id="142" name="Google Shape;142;p5"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43" name="Google Shape;143;p5"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6"/>
          <p:cNvPicPr preferRelativeResize="0"/>
          <p:nvPr/>
        </p:nvPicPr>
        <p:blipFill rotWithShape="1">
          <a:blip r:embed="rId3">
            <a:alphaModFix/>
          </a:blip>
          <a:srcRect b="0" l="0" r="0" t="0"/>
          <a:stretch/>
        </p:blipFill>
        <p:spPr>
          <a:xfrm>
            <a:off x="0" y="184643"/>
            <a:ext cx="10999177" cy="64887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6"/>
          <p:cNvSpPr txBox="1"/>
          <p:nvPr/>
        </p:nvSpPr>
        <p:spPr>
          <a:xfrm>
            <a:off x="913436" y="327905"/>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Problema</a:t>
            </a:r>
            <a:endParaRPr b="1" i="0" sz="1400" u="none" cap="none" strike="noStrike">
              <a:solidFill>
                <a:srgbClr val="000000"/>
              </a:solidFill>
              <a:latin typeface="Arial"/>
              <a:ea typeface="Arial"/>
              <a:cs typeface="Arial"/>
              <a:sym typeface="Arial"/>
            </a:endParaRPr>
          </a:p>
        </p:txBody>
      </p:sp>
      <p:sp>
        <p:nvSpPr>
          <p:cNvPr id="154" name="Google Shape;154;p6"/>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155" name="Google Shape;155;p6"/>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56" name="Google Shape;156;p6"/>
          <p:cNvSpPr txBox="1"/>
          <p:nvPr/>
        </p:nvSpPr>
        <p:spPr>
          <a:xfrm>
            <a:off x="372353" y="1667521"/>
            <a:ext cx="11447293" cy="4524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En el proceso de Producción se utiliza un formato físico diligenciado manualmente. Luego se toma una foto y se envía por WhatsApp. Posteriormente, se transcribe a Excel para cargar al sistema (ICG MANAGER) mediante un archivo plano . Esto genera duplicidad de trabajo y errores de digitación. También hay riesgo de pérdida de información. Se presentan retrasos en la actualización de datos.</a:t>
            </a:r>
            <a:endParaRPr/>
          </a:p>
          <a:p>
            <a:pPr indent="0" lvl="0" marL="0" marR="0" rtl="0" algn="l">
              <a:lnSpc>
                <a:spcPct val="100000"/>
              </a:lnSpc>
              <a:spcBef>
                <a:spcPts val="0"/>
              </a:spcBef>
              <a:spcAft>
                <a:spcPts val="0"/>
              </a:spcAft>
              <a:buNone/>
            </a:pPr>
            <a:br>
              <a:rPr b="0" i="0" lang="es-MX"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En el proceso Contable se recibe la remisión mediante fotografía enviada por WhatsApp, estas remisiones se guardan en un sobre para hacerlas llegar a la planta. Luego debe compararse con la factura electrónica que llega al correo. Esto dificulta la trazabilidad de la información. Se presentan inconsistencias entre documentos. Existe dependencia de múltiples fuentes no integradas. El proceso se vuelve lento y propenso a errores.</a:t>
            </a:r>
            <a:endParaRPr/>
          </a:p>
          <a:p>
            <a:pPr indent="0" lvl="0" marL="0" marR="0" rtl="0" algn="l">
              <a:lnSpc>
                <a:spcPct val="100000"/>
              </a:lnSpc>
              <a:spcBef>
                <a:spcPts val="0"/>
              </a:spcBef>
              <a:spcAft>
                <a:spcPts val="0"/>
              </a:spcAft>
              <a:buNone/>
            </a:pPr>
            <a:br>
              <a:rPr b="0" i="0" lang="es-MX"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En el proceso de Pedidos y Pagos, los pedidos se realizan mediante llamadas telefónicas. Se depende de la jefe de punto para validar stock. No hay información en tiempo real. Los pagos se reportan con fotos por WhatsApp. Luego se registran manualmente en cuaderno y se concilian con el banco. Esto genera reprocesos, errores y falta de control financiero.</a:t>
            </a:r>
            <a:endParaRPr/>
          </a:p>
        </p:txBody>
      </p:sp>
      <p:pic>
        <p:nvPicPr>
          <p:cNvPr id="157" name="Google Shape;157;p6" title="WhatsApp Image 2026-03-27 at 6.38.41 PM.jpeg"/>
          <p:cNvPicPr preferRelativeResize="0"/>
          <p:nvPr/>
        </p:nvPicPr>
        <p:blipFill rotWithShape="1">
          <a:blip r:embed="rId4">
            <a:alphaModFix/>
          </a:blip>
          <a:srcRect b="0" l="0" r="0" t="0"/>
          <a:stretch/>
        </p:blipFill>
        <p:spPr>
          <a:xfrm>
            <a:off x="8693575" y="508463"/>
            <a:ext cx="1080000" cy="540000"/>
          </a:xfrm>
          <a:prstGeom prst="rect">
            <a:avLst/>
          </a:prstGeom>
          <a:noFill/>
          <a:ln>
            <a:noFill/>
          </a:ln>
        </p:spPr>
      </p:pic>
      <p:pic>
        <p:nvPicPr>
          <p:cNvPr id="158" name="Google Shape;158;p6" title="images.png"/>
          <p:cNvPicPr preferRelativeResize="0"/>
          <p:nvPr/>
        </p:nvPicPr>
        <p:blipFill rotWithShape="1">
          <a:blip r:embed="rId5">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p:nvPr/>
        </p:nvSpPr>
        <p:spPr>
          <a:xfrm>
            <a:off x="689789" y="548863"/>
            <a:ext cx="3527266"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7"/>
          <p:cNvSpPr txBox="1"/>
          <p:nvPr/>
        </p:nvSpPr>
        <p:spPr>
          <a:xfrm>
            <a:off x="315917" y="245445"/>
            <a:ext cx="4076985" cy="67659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8AA00"/>
              </a:buClr>
              <a:buSzPts val="3200"/>
              <a:buFont typeface="Work Sans Light"/>
              <a:buNone/>
            </a:pPr>
            <a:r>
              <a:rPr b="1" i="0" lang="es-MX" sz="3200" u="none" cap="none" strike="noStrike">
                <a:solidFill>
                  <a:srgbClr val="FF0000"/>
                </a:solidFill>
                <a:latin typeface="Work Sans Light"/>
                <a:ea typeface="Work Sans Light"/>
                <a:cs typeface="Work Sans Light"/>
                <a:sym typeface="Work Sans Light"/>
              </a:rPr>
              <a:t>Objetivo General</a:t>
            </a:r>
            <a:endParaRPr b="1" i="0" sz="1400" u="none" cap="none" strike="noStrike">
              <a:solidFill>
                <a:srgbClr val="FF0000"/>
              </a:solidFill>
              <a:latin typeface="Arial"/>
              <a:ea typeface="Arial"/>
              <a:cs typeface="Arial"/>
              <a:sym typeface="Arial"/>
            </a:endParaRPr>
          </a:p>
        </p:txBody>
      </p:sp>
      <p:sp>
        <p:nvSpPr>
          <p:cNvPr id="165" name="Google Shape;165;p7"/>
          <p:cNvSpPr txBox="1"/>
          <p:nvPr/>
        </p:nvSpPr>
        <p:spPr>
          <a:xfrm>
            <a:off x="574055" y="1198689"/>
            <a:ext cx="5042916" cy="10771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MX" sz="1600"/>
              <a:t>D</a:t>
            </a:r>
            <a:r>
              <a:rPr b="0" i="0" lang="es-MX" sz="1600" u="none" cap="none" strike="noStrike">
                <a:solidFill>
                  <a:srgbClr val="000000"/>
                </a:solidFill>
                <a:latin typeface="Arial"/>
                <a:ea typeface="Arial"/>
                <a:cs typeface="Arial"/>
                <a:sym typeface="Arial"/>
              </a:rPr>
              <a:t>iseñar un Sistema de Información Web </a:t>
            </a:r>
            <a:r>
              <a:rPr b="1" i="0" lang="es-MX" sz="1600" u="none" cap="none" strike="noStrike">
                <a:solidFill>
                  <a:srgbClr val="000000"/>
                </a:solidFill>
                <a:latin typeface="Arial"/>
                <a:ea typeface="Arial"/>
                <a:cs typeface="Arial"/>
                <a:sym typeface="Arial"/>
              </a:rPr>
              <a:t>BakeAdmin</a:t>
            </a:r>
            <a:r>
              <a:rPr b="0" i="0" lang="es-MX" sz="1600" u="none" cap="none" strike="noStrike">
                <a:solidFill>
                  <a:srgbClr val="000000"/>
                </a:solidFill>
                <a:latin typeface="Arial"/>
                <a:ea typeface="Arial"/>
                <a:cs typeface="Arial"/>
                <a:sym typeface="Arial"/>
              </a:rPr>
              <a:t> para el seguimiento, control y optimización de los procesos de </a:t>
            </a:r>
            <a:r>
              <a:rPr lang="es-MX" sz="1600"/>
              <a:t>producción </a:t>
            </a:r>
            <a:r>
              <a:rPr b="0" i="0" lang="es-MX" sz="1600" u="none" cap="none" strike="noStrike">
                <a:solidFill>
                  <a:srgbClr val="000000"/>
                </a:solidFill>
                <a:latin typeface="Arial"/>
                <a:ea typeface="Arial"/>
                <a:cs typeface="Arial"/>
                <a:sym typeface="Arial"/>
              </a:rPr>
              <a:t>,compras a prove</a:t>
            </a:r>
            <a:r>
              <a:rPr lang="es-MX" sz="1600"/>
              <a:t>edores y </a:t>
            </a:r>
            <a:r>
              <a:rPr b="0" i="0" lang="es-MX" sz="1600" u="none" cap="none" strike="noStrike">
                <a:solidFill>
                  <a:srgbClr val="000000"/>
                </a:solidFill>
                <a:latin typeface="Arial"/>
                <a:ea typeface="Arial"/>
                <a:cs typeface="Arial"/>
                <a:sym typeface="Arial"/>
              </a:rPr>
              <a:t> domicilios de la Empresa </a:t>
            </a:r>
            <a:r>
              <a:rPr b="1" i="0" lang="es-MX" sz="1600" u="none" cap="none" strike="noStrike">
                <a:solidFill>
                  <a:srgbClr val="000000"/>
                </a:solidFill>
                <a:latin typeface="Arial"/>
                <a:ea typeface="Arial"/>
                <a:cs typeface="Arial"/>
                <a:sym typeface="Arial"/>
              </a:rPr>
              <a:t>Coffee Park.</a:t>
            </a:r>
            <a:endParaRPr b="1" i="0" sz="1600" u="none" cap="none" strike="noStrike">
              <a:solidFill>
                <a:schemeClr val="dk1"/>
              </a:solidFill>
              <a:latin typeface="Work Sans Light"/>
              <a:ea typeface="Work Sans Light"/>
              <a:cs typeface="Work Sans Light"/>
              <a:sym typeface="Work Sans Light"/>
            </a:endParaRPr>
          </a:p>
        </p:txBody>
      </p:sp>
      <p:sp>
        <p:nvSpPr>
          <p:cNvPr id="166" name="Google Shape;166;p7"/>
          <p:cNvSpPr/>
          <p:nvPr/>
        </p:nvSpPr>
        <p:spPr>
          <a:xfrm>
            <a:off x="484946" y="3146130"/>
            <a:ext cx="4166093"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p7"/>
          <p:cNvSpPr txBox="1"/>
          <p:nvPr/>
        </p:nvSpPr>
        <p:spPr>
          <a:xfrm>
            <a:off x="574055" y="2888203"/>
            <a:ext cx="4076985"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200"/>
              <a:buFont typeface="Work Sans Light"/>
              <a:buNone/>
            </a:pPr>
            <a:r>
              <a:rPr b="1" i="0" lang="es-MX" sz="3200" u="none" cap="none" strike="noStrike">
                <a:solidFill>
                  <a:srgbClr val="FF0000"/>
                </a:solidFill>
                <a:latin typeface="Work Sans Light"/>
                <a:ea typeface="Work Sans Light"/>
                <a:cs typeface="Work Sans Light"/>
                <a:sym typeface="Work Sans Light"/>
              </a:rPr>
              <a:t>Objetivo Específicos</a:t>
            </a:r>
            <a:endParaRPr b="1" i="0" sz="1400" u="none" cap="none" strike="noStrike">
              <a:solidFill>
                <a:srgbClr val="FF0000"/>
              </a:solidFill>
              <a:latin typeface="Arial"/>
              <a:ea typeface="Arial"/>
              <a:cs typeface="Arial"/>
              <a:sym typeface="Arial"/>
            </a:endParaRPr>
          </a:p>
        </p:txBody>
      </p:sp>
      <p:sp>
        <p:nvSpPr>
          <p:cNvPr id="168" name="Google Shape;168;p7"/>
          <p:cNvSpPr/>
          <p:nvPr/>
        </p:nvSpPr>
        <p:spPr>
          <a:xfrm>
            <a:off x="131884" y="4118798"/>
            <a:ext cx="7077808" cy="2031325"/>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Administrar el control de  los usuarios de la Empresa </a:t>
            </a:r>
            <a:r>
              <a:rPr b="1" i="0" lang="es-MX" sz="1800" u="none" cap="none" strike="noStrike">
                <a:solidFill>
                  <a:schemeClr val="dk2"/>
                </a:solidFill>
                <a:latin typeface="Arial"/>
                <a:ea typeface="Arial"/>
                <a:cs typeface="Arial"/>
                <a:sym typeface="Arial"/>
              </a:rPr>
              <a:t>Coffee Park. </a:t>
            </a:r>
            <a:endParaRPr/>
          </a:p>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optimizar el proceso de domicilios de la Empresa </a:t>
            </a:r>
            <a:r>
              <a:rPr b="1" i="0" lang="es-MX" sz="1800" u="none" cap="none" strike="noStrike">
                <a:solidFill>
                  <a:schemeClr val="dk2"/>
                </a:solidFill>
                <a:latin typeface="Arial"/>
                <a:ea typeface="Arial"/>
                <a:cs typeface="Arial"/>
                <a:sym typeface="Arial"/>
              </a:rPr>
              <a:t>Coffee Park. </a:t>
            </a:r>
            <a:endParaRPr/>
          </a:p>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Organizar  el proceso de compras a proveedores  y abastecimiento de la Empresa </a:t>
            </a:r>
            <a:r>
              <a:rPr b="1" i="0" lang="es-MX" sz="1800" u="none" cap="none" strike="noStrike">
                <a:solidFill>
                  <a:schemeClr val="dk2"/>
                </a:solidFill>
                <a:latin typeface="Arial"/>
                <a:ea typeface="Arial"/>
                <a:cs typeface="Arial"/>
                <a:sym typeface="Arial"/>
              </a:rPr>
              <a:t>Coffee Park. </a:t>
            </a:r>
            <a:endParaRPr/>
          </a:p>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Generar reportes gráficos e impresos de la Empresa </a:t>
            </a:r>
            <a:r>
              <a:rPr b="1" i="0" lang="es-MX" sz="1800" u="none" cap="none" strike="noStrike">
                <a:solidFill>
                  <a:schemeClr val="dk2"/>
                </a:solidFill>
                <a:latin typeface="Arial"/>
                <a:ea typeface="Arial"/>
                <a:cs typeface="Arial"/>
                <a:sym typeface="Arial"/>
              </a:rPr>
              <a:t>Coffee Park. </a:t>
            </a:r>
            <a:endParaRPr/>
          </a:p>
        </p:txBody>
      </p:sp>
      <p:pic>
        <p:nvPicPr>
          <p:cNvPr id="169" name="Google Shape;169;p7"/>
          <p:cNvPicPr preferRelativeResize="0"/>
          <p:nvPr/>
        </p:nvPicPr>
        <p:blipFill rotWithShape="1">
          <a:blip r:embed="rId3">
            <a:alphaModFix/>
          </a:blip>
          <a:srcRect b="0" l="0" r="0" t="0"/>
          <a:stretch/>
        </p:blipFill>
        <p:spPr>
          <a:xfrm>
            <a:off x="6095999" y="245445"/>
            <a:ext cx="3399693" cy="25228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8"/>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Justificación</a:t>
            </a:r>
            <a:endParaRPr/>
          </a:p>
        </p:txBody>
      </p:sp>
      <p:sp>
        <p:nvSpPr>
          <p:cNvPr id="175" name="Google Shape;175;p8"/>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176" name="Google Shape;176;p8"/>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77" name="Google Shape;177;p8"/>
          <p:cNvSpPr txBox="1"/>
          <p:nvPr/>
        </p:nvSpPr>
        <p:spPr>
          <a:xfrm>
            <a:off x="-9610" y="1446445"/>
            <a:ext cx="11466000" cy="520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El sistema</a:t>
            </a:r>
            <a:r>
              <a:rPr b="1" i="0" lang="es-MX" sz="2000" u="none" cap="none" strike="noStrike">
                <a:solidFill>
                  <a:srgbClr val="000000"/>
                </a:solidFill>
                <a:latin typeface="Arial"/>
                <a:ea typeface="Arial"/>
                <a:cs typeface="Arial"/>
                <a:sym typeface="Arial"/>
              </a:rPr>
              <a:t> BakeAdmin </a:t>
            </a:r>
            <a:r>
              <a:rPr b="0" i="0" lang="es-MX" sz="2000" u="none" cap="none" strike="noStrike">
                <a:solidFill>
                  <a:srgbClr val="000000"/>
                </a:solidFill>
                <a:latin typeface="Arial"/>
                <a:ea typeface="Arial"/>
                <a:cs typeface="Arial"/>
                <a:sym typeface="Arial"/>
              </a:rPr>
              <a:t>permitirá a los diferentes perfiles de usuario de la Empresa </a:t>
            </a:r>
            <a:r>
              <a:rPr b="1" i="0" lang="es-MX" sz="2000" u="none" cap="none" strike="noStrike">
                <a:solidFill>
                  <a:srgbClr val="000000"/>
                </a:solidFill>
                <a:latin typeface="Arial"/>
                <a:ea typeface="Arial"/>
                <a:cs typeface="Arial"/>
                <a:sym typeface="Arial"/>
              </a:rPr>
              <a:t>Coffee Park </a:t>
            </a:r>
            <a:r>
              <a:rPr b="0" i="0" lang="es-MX" sz="2000" u="none" cap="none" strike="noStrike">
                <a:solidFill>
                  <a:srgbClr val="000000"/>
                </a:solidFill>
                <a:latin typeface="Arial"/>
                <a:ea typeface="Arial"/>
                <a:cs typeface="Arial"/>
                <a:sym typeface="Arial"/>
              </a:rPr>
              <a:t>ejecutar operaciones relacionadas con la gestión de los procesos clave del negocio. En el módulo de </a:t>
            </a:r>
            <a:r>
              <a:rPr lang="es-MX" sz="2000"/>
              <a:t>producion, permitirá controlar y automatizar los procesos productivos, optimizando tiempos, recursos y organización dentro de la empresa.</a:t>
            </a:r>
            <a:r>
              <a:rPr b="0" i="0" lang="es-MX" sz="2000" u="none" cap="none" strike="noStrike">
                <a:solidFill>
                  <a:srgbClr val="000000"/>
                </a:solidFill>
                <a:latin typeface="Arial"/>
                <a:ea typeface="Arial"/>
                <a:cs typeface="Arial"/>
                <a:sym typeface="Arial"/>
              </a:rPr>
              <a:t> En el módulo de domicilios, será posible gestionar pedidos, asignar entregas y realizar seguimiento al estado de los mismos. El módulo de compras se optimiza el proceso mediante el control de inventarios, la gestión de proveedores y la automatización de órdenes de compra, reduciendo errores, costos y evitando desabastecimientos.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En este contexto, la implementación del sistema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permitirá la administración estructurada de usuarios, tales como administradores, cajeros, encargados de inventario y domiciliarios, mediante mecanismos de autenticación y control de accesos. Esto garantizará la seguridad de la información, la asignación adecuada de responsabilidades y un uso eficiente del sistema dentro de la organización</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none" cap="none" strike="noStrike">
              <a:solidFill>
                <a:schemeClr val="dk1"/>
              </a:solidFill>
              <a:latin typeface="Work Sans Light"/>
              <a:ea typeface="Work Sans Light"/>
              <a:cs typeface="Work Sans Light"/>
              <a:sym typeface="Work Sans Light"/>
            </a:endParaRPr>
          </a:p>
        </p:txBody>
      </p:sp>
      <p:pic>
        <p:nvPicPr>
          <p:cNvPr id="178" name="Google Shape;178;p8"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79" name="Google Shape;179;p8"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nvSpPr>
        <p:spPr>
          <a:xfrm>
            <a:off x="526575" y="371865"/>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Justificación</a:t>
            </a:r>
            <a:endParaRPr b="1" i="0" sz="1400" u="none" cap="none" strike="noStrike">
              <a:solidFill>
                <a:srgbClr val="000000"/>
              </a:solidFill>
              <a:latin typeface="Arial"/>
              <a:ea typeface="Arial"/>
              <a:cs typeface="Arial"/>
              <a:sym typeface="Arial"/>
            </a:endParaRPr>
          </a:p>
        </p:txBody>
      </p:sp>
      <p:sp>
        <p:nvSpPr>
          <p:cNvPr id="185" name="Google Shape;185;p9"/>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186" name="Google Shape;186;p9"/>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87" name="Google Shape;187;p9"/>
          <p:cNvSpPr txBox="1"/>
          <p:nvPr/>
        </p:nvSpPr>
        <p:spPr>
          <a:xfrm>
            <a:off x="157298" y="1271867"/>
            <a:ext cx="11447400" cy="467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400" u="none" cap="none" strike="noStrike">
                <a:solidFill>
                  <a:srgbClr val="000000"/>
                </a:solidFill>
                <a:latin typeface="Arial"/>
                <a:ea typeface="Arial"/>
                <a:cs typeface="Arial"/>
                <a:sym typeface="Arial"/>
              </a:rPr>
              <a:t>Asimismo, el sistema contará con módulos especializados que permitirán controlar </a:t>
            </a:r>
            <a:r>
              <a:rPr lang="es-MX" sz="2400"/>
              <a:t>la </a:t>
            </a:r>
            <a:r>
              <a:rPr lang="es-MX" sz="2400"/>
              <a:t>producción</a:t>
            </a:r>
            <a:r>
              <a:rPr lang="es-MX" sz="2400"/>
              <a:t> </a:t>
            </a:r>
            <a:r>
              <a:rPr b="0" i="0" lang="es-MX" sz="2400" u="none" cap="none" strike="noStrike">
                <a:solidFill>
                  <a:srgbClr val="000000"/>
                </a:solidFill>
                <a:latin typeface="Arial"/>
                <a:ea typeface="Arial"/>
                <a:cs typeface="Arial"/>
                <a:sym typeface="Arial"/>
              </a:rPr>
              <a:t> en tiempo real, gestionar pedidos de domicilios, optimizar la relación con proveedores y de igual forma, se incorporarán herramientas para la generación de reportes gráficos e impresos, facilitando el análisis de la información y el apoyo en la toma de decisiones.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400" u="none" cap="none" strike="noStrike">
                <a:solidFill>
                  <a:srgbClr val="000000"/>
                </a:solidFill>
                <a:latin typeface="Arial"/>
                <a:ea typeface="Arial"/>
                <a:cs typeface="Arial"/>
                <a:sym typeface="Arial"/>
              </a:rPr>
              <a:t>Finalmente, el sistema</a:t>
            </a:r>
            <a:r>
              <a:rPr b="1" i="0" lang="es-MX" sz="2400" u="none" cap="none" strike="noStrike">
                <a:solidFill>
                  <a:srgbClr val="000000"/>
                </a:solidFill>
                <a:latin typeface="Arial"/>
                <a:ea typeface="Arial"/>
                <a:cs typeface="Arial"/>
                <a:sym typeface="Arial"/>
              </a:rPr>
              <a:t> BakeAdmin </a:t>
            </a:r>
            <a:r>
              <a:rPr b="0" i="0" lang="es-MX" sz="2400" u="none" cap="none" strike="noStrike">
                <a:solidFill>
                  <a:srgbClr val="000000"/>
                </a:solidFill>
                <a:latin typeface="Arial"/>
                <a:ea typeface="Arial"/>
                <a:cs typeface="Arial"/>
                <a:sym typeface="Arial"/>
              </a:rPr>
              <a:t>promoverá la digitalización y modernización de los procesos internos en empresa  </a:t>
            </a:r>
            <a:r>
              <a:rPr b="1" i="0" lang="es-MX" sz="2400" u="none" cap="none" strike="noStrike">
                <a:solidFill>
                  <a:srgbClr val="000000"/>
                </a:solidFill>
                <a:latin typeface="Arial"/>
                <a:ea typeface="Arial"/>
                <a:cs typeface="Arial"/>
                <a:sym typeface="Arial"/>
              </a:rPr>
              <a:t>Coffee Park</a:t>
            </a:r>
            <a:r>
              <a:rPr b="0" i="0" lang="es-MX" sz="2400" u="none" cap="none" strike="noStrike">
                <a:solidFill>
                  <a:srgbClr val="000000"/>
                </a:solidFill>
                <a:latin typeface="Arial"/>
                <a:ea typeface="Arial"/>
                <a:cs typeface="Arial"/>
                <a:sym typeface="Arial"/>
              </a:rPr>
              <a:t>. Su implementación contribuirá a mejorar la eficiencia operativa, reducir errores, optimizar recursos y fortalecer la gestión empresarial, alineándose con las tendencias actuales de transformación digital en pequeñas y medianas empresas.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8" name="Google Shape;188;p9"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89" name="Google Shape;189;p9"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p>
        </p:txBody>
      </p:sp>
      <p:sp>
        <p:nvSpPr>
          <p:cNvPr id="195" name="Google Shape;195;p10"/>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196" name="Google Shape;196;p10"/>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97" name="Google Shape;197;p10"/>
          <p:cNvSpPr txBox="1"/>
          <p:nvPr/>
        </p:nvSpPr>
        <p:spPr>
          <a:xfrm>
            <a:off x="372353" y="1667521"/>
            <a:ext cx="11447400" cy="489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El sistema </a:t>
            </a:r>
            <a:r>
              <a:rPr b="1" i="0" lang="es-MX" sz="2000" u="none" cap="none" strike="noStrike">
                <a:solidFill>
                  <a:srgbClr val="000000"/>
                </a:solidFill>
                <a:latin typeface="Arial"/>
                <a:ea typeface="Arial"/>
                <a:cs typeface="Arial"/>
                <a:sym typeface="Arial"/>
              </a:rPr>
              <a:t>BakeAdmin </a:t>
            </a:r>
            <a:r>
              <a:rPr b="0" i="0" lang="es-MX" sz="2000" u="none" cap="none" strike="noStrike">
                <a:solidFill>
                  <a:srgbClr val="000000"/>
                </a:solidFill>
                <a:latin typeface="Arial"/>
                <a:ea typeface="Arial"/>
                <a:cs typeface="Arial"/>
                <a:sym typeface="Arial"/>
              </a:rPr>
              <a:t>abarcará la gestión del módulo de </a:t>
            </a:r>
            <a:r>
              <a:rPr lang="es-MX" sz="2000"/>
              <a:t>producción</a:t>
            </a:r>
            <a:r>
              <a:rPr lang="es-MX" sz="2000"/>
              <a:t> </a:t>
            </a:r>
            <a:r>
              <a:rPr b="0" i="0" lang="es-MX" sz="2000" u="none" cap="none" strike="noStrike">
                <a:solidFill>
                  <a:srgbClr val="000000"/>
                </a:solidFill>
                <a:latin typeface="Arial"/>
                <a:ea typeface="Arial"/>
                <a:cs typeface="Arial"/>
                <a:sym typeface="Arial"/>
              </a:rPr>
              <a:t> de la empresa </a:t>
            </a:r>
            <a:r>
              <a:rPr b="1" i="0" lang="es-MX" sz="2000" u="none" cap="none" strike="noStrike">
                <a:solidFill>
                  <a:srgbClr val="000000"/>
                </a:solidFill>
                <a:latin typeface="Arial"/>
                <a:ea typeface="Arial"/>
                <a:cs typeface="Arial"/>
                <a:sym typeface="Arial"/>
              </a:rPr>
              <a:t>Coffee Park</a:t>
            </a:r>
            <a:r>
              <a:rPr b="0" i="0" lang="es-MX" sz="2000" u="none" cap="none" strike="noStrike">
                <a:solidFill>
                  <a:srgbClr val="000000"/>
                </a:solidFill>
                <a:latin typeface="Arial"/>
                <a:ea typeface="Arial"/>
                <a:cs typeface="Arial"/>
                <a:sym typeface="Arial"/>
              </a:rPr>
              <a:t>, </a:t>
            </a:r>
            <a:r>
              <a:rPr lang="es-MX" sz="2000"/>
              <a:t>permitirá controlar y automatizar los procesos productivos, optimizando tiempos, recursos y organización dentro de la empresa.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Asimismo, el sistema incluirá el módulo de compras, en el cual se gestionarán los procesos relacionados con la adquisición de insumos necesarios para el funcionamiento del negocio. Este módulo permitirá registrar pedidos de compra, llevar un control estructurado de proveedores y realizar el seguimiento de las órdenes generadas, asegurando una adecuada planificación y control del abastecimiento.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De igual manera,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contemplará el módulo de domicilios, el cual permitirá administrar los pedidos realizados por los clientes, asignar las entregas correspondientes y realizar el seguimiento del estado de cada solicitud. Esto facilitará la organización del proceso de distribución, mejorando la gestión de los pedidos y permitiendo un mayor control sobre las entregas realizadas.</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 name="Google Shape;198;p10"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99" name="Google Shape;199;p10"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1"/>
          <p:cNvSpPr txBox="1"/>
          <p:nvPr/>
        </p:nvSpPr>
        <p:spPr>
          <a:xfrm>
            <a:off x="706314" y="440164"/>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Alcance</a:t>
            </a:r>
            <a:endParaRPr b="1" i="0" sz="1400" u="none" cap="none" strike="noStrike">
              <a:solidFill>
                <a:srgbClr val="000000"/>
              </a:solidFill>
              <a:latin typeface="Arial"/>
              <a:ea typeface="Arial"/>
              <a:cs typeface="Arial"/>
              <a:sym typeface="Arial"/>
            </a:endParaRPr>
          </a:p>
        </p:txBody>
      </p:sp>
      <p:sp>
        <p:nvSpPr>
          <p:cNvPr id="205" name="Google Shape;205;p11"/>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206" name="Google Shape;206;p11"/>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07" name="Google Shape;207;p11"/>
          <p:cNvSpPr txBox="1"/>
          <p:nvPr/>
        </p:nvSpPr>
        <p:spPr>
          <a:xfrm>
            <a:off x="240468" y="1225729"/>
            <a:ext cx="11447293" cy="56322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Por otra parte, el sistema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no estará orientado a la gestión de procesos externos como la contabilidad avanzada, la facturación electrónica ante entidades gubernamentales o la integración directa con plataformas bancarias. Tampoco incluirá funcionalidades relacionadas con comercio electrónico en línea ni aplicaciones móviles nativas, ya que su enfoque principal se centra en la gestión interna de los procesos operativos de la empresa.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En cuanto a las tecnologías, el sistema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será desarrollado bajo una arquitectura cliente-servidor, permitiendo la interacción entre el usuario y la aplicación a través de un navegador web. Se utilizará un enfoque de desarrollo basado en capas (presentación, lógica de negocio y datos), lo que facilitará la organización, mantenimiento y escalabilidad del sistema.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Finalmente, para su implementación se emplearán tecnologías modernas de desarrollo web, incluyendo un framework de Front-End para la construcción de interfaces dinámicas e interactivas, y un Back-End encargado de la lógica del sistema y la gestión de la base de datos. Asimismo, se podrán aplicar patrones de diseño como MVC (Modelo-Vista-Controlador), junto con el uso de librerías y herramientas que optimicen el desarrollo, garanticen la seguridad de la información y mejoren el rendimiento general del sistema.</a:t>
            </a:r>
            <a:endParaRPr/>
          </a:p>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dk1"/>
                </a:solidFill>
                <a:latin typeface="Work Sans Light"/>
                <a:ea typeface="Work Sans Light"/>
                <a:cs typeface="Work Sans Light"/>
                <a:sym typeface="Work Sans Light"/>
              </a:rPr>
              <a:t>”</a:t>
            </a:r>
            <a:endParaRPr b="0" i="0" sz="2000" u="none" cap="none" strike="noStrike">
              <a:solidFill>
                <a:srgbClr val="000000"/>
              </a:solidFill>
              <a:latin typeface="Arial"/>
              <a:ea typeface="Arial"/>
              <a:cs typeface="Arial"/>
              <a:sym typeface="Arial"/>
            </a:endParaRPr>
          </a:p>
        </p:txBody>
      </p:sp>
      <p:pic>
        <p:nvPicPr>
          <p:cNvPr id="208" name="Google Shape;208;p11"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209" name="Google Shape;209;p11"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Delimitación</a:t>
            </a:r>
            <a:endParaRPr/>
          </a:p>
        </p:txBody>
      </p:sp>
      <p:sp>
        <p:nvSpPr>
          <p:cNvPr id="215" name="Google Shape;215;p12"/>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216" name="Google Shape;216;p12"/>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17" name="Google Shape;217;p12"/>
          <p:cNvSpPr txBox="1"/>
          <p:nvPr/>
        </p:nvSpPr>
        <p:spPr>
          <a:xfrm>
            <a:off x="99791" y="1436044"/>
            <a:ext cx="11447293" cy="55707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El desarrollo del sistema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para la Empresa </a:t>
            </a:r>
            <a:r>
              <a:rPr b="1" i="0" lang="es-MX" sz="2000" u="none" cap="none" strike="noStrike">
                <a:solidFill>
                  <a:srgbClr val="000000"/>
                </a:solidFill>
                <a:latin typeface="Arial"/>
                <a:ea typeface="Arial"/>
                <a:cs typeface="Arial"/>
                <a:sym typeface="Arial"/>
              </a:rPr>
              <a:t>Coffee Park </a:t>
            </a:r>
            <a:r>
              <a:rPr b="0" i="0" lang="es-MX" sz="2000" u="none" cap="none" strike="noStrike">
                <a:solidFill>
                  <a:srgbClr val="000000"/>
                </a:solidFill>
                <a:latin typeface="Arial"/>
                <a:ea typeface="Arial"/>
                <a:cs typeface="Arial"/>
                <a:sym typeface="Arial"/>
              </a:rPr>
              <a:t>se llevará a cabo mediante un cronograma estructurado basado en el modelo de diagrama de Gantt, el cual permitirá planificar, organizar y controlar las actividades del proyecto en función del tiempo. Este cronograma contempla las fases principales del desarrollo de software, incluyendo análisis de requerimientos, diseño, desarrollo, pruebas e implementación, garantizando una ejecución ordenada y coherente del proyecto.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En la fase de análisis de requerimientos se identificarán las necesidades de la empresa, los procesos a automatizar y los perfiles de usuario involucrados. Como evidencia de esta etapa se generarán documentos como el levantamiento de información y la definición de requisitos funcionales y no funcionales. Esta fase estará a cargo del equipo de desarrollo, en coordinación con los responsables del negocio.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Posteriormente, en la fase de diseño se estructurará la arquitectura del sistema, la base de datos y las interfaces de usuario. En esta etapa se elaborarán diagramas como el modelo entidad-relación, diagramas de casos de uso y prototipos de interfaz. Estas evidencias permitirán tener una visión clara del funcionamiento del sistema antes de su desarrollo.</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pic>
        <p:nvPicPr>
          <p:cNvPr id="218" name="Google Shape;218;p12"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219" name="Google Shape;219;p12"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txBox="1"/>
          <p:nvPr/>
        </p:nvSpPr>
        <p:spPr>
          <a:xfrm>
            <a:off x="456236" y="440164"/>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Delimitación</a:t>
            </a:r>
            <a:endParaRPr b="1" i="0" sz="1400" u="none" cap="none" strike="noStrike">
              <a:solidFill>
                <a:srgbClr val="000000"/>
              </a:solidFill>
              <a:latin typeface="Arial"/>
              <a:ea typeface="Arial"/>
              <a:cs typeface="Arial"/>
              <a:sym typeface="Arial"/>
            </a:endParaRPr>
          </a:p>
        </p:txBody>
      </p:sp>
      <p:sp>
        <p:nvSpPr>
          <p:cNvPr id="225" name="Google Shape;225;p13"/>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226" name="Google Shape;226;p13"/>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27" name="Google Shape;227;p13"/>
          <p:cNvSpPr txBox="1"/>
          <p:nvPr/>
        </p:nvSpPr>
        <p:spPr>
          <a:xfrm>
            <a:off x="456236" y="1632352"/>
            <a:ext cx="11447400" cy="492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Durante la fase de desarrollo se implementarán los módulos del sistema, incluyendo </a:t>
            </a:r>
            <a:r>
              <a:rPr lang="es-MX" sz="2000"/>
              <a:t>producción</a:t>
            </a:r>
            <a:r>
              <a:rPr b="0" i="0" lang="es-MX" sz="2000" u="none" cap="none" strike="noStrike">
                <a:solidFill>
                  <a:srgbClr val="000000"/>
                </a:solidFill>
                <a:latin typeface="Arial"/>
                <a:ea typeface="Arial"/>
                <a:cs typeface="Arial"/>
                <a:sym typeface="Arial"/>
              </a:rPr>
              <a:t>, domicilios, y compras. Esta etapa se dividirá en actividades específicas por módulo, con el fin de facilitar el control del avance. Las evidencias estarán representadas en el código fuente, avances funcionales del sistema y pruebas parciales realizadas por el equipo.</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En la fase de pruebas se verificará el correcto funcionamiento del sistema mediante pruebas funcionales, de integración y validación con los usuarios. Se identificarán y corregirán errores, garantizando la calidad del software antes de su implementación. Como evidencia se generarán reportes de pruebas y registros de incidencias.</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Finalmente, en la fase de implementación se realizará la entrega del sistema </a:t>
            </a:r>
            <a:r>
              <a:rPr b="1" i="0" lang="es-MX" sz="2000" u="none" cap="none" strike="noStrike">
                <a:solidFill>
                  <a:srgbClr val="000000"/>
                </a:solidFill>
                <a:latin typeface="Arial"/>
                <a:ea typeface="Arial"/>
                <a:cs typeface="Arial"/>
                <a:sym typeface="Arial"/>
              </a:rPr>
              <a:t>BakeAdmin, </a:t>
            </a:r>
            <a:r>
              <a:rPr b="0" i="0" lang="es-MX" sz="2000" u="none" cap="none" strike="noStrike">
                <a:solidFill>
                  <a:srgbClr val="000000"/>
                </a:solidFill>
                <a:latin typeface="Arial"/>
                <a:ea typeface="Arial"/>
                <a:cs typeface="Arial"/>
                <a:sym typeface="Arial"/>
              </a:rPr>
              <a:t>incluyendo su despliegue en un entorno de uso real y la capacitación básica a los usuarios de la Empresa </a:t>
            </a:r>
            <a:r>
              <a:rPr b="1" i="0" lang="es-MX" sz="2000" u="none" cap="none" strike="noStrike">
                <a:solidFill>
                  <a:srgbClr val="000000"/>
                </a:solidFill>
                <a:latin typeface="Arial"/>
                <a:ea typeface="Arial"/>
                <a:cs typeface="Arial"/>
                <a:sym typeface="Arial"/>
              </a:rPr>
              <a:t>Coffee Park. </a:t>
            </a:r>
            <a:r>
              <a:rPr b="0" i="0" lang="es-MX" sz="2000" u="none" cap="none" strike="noStrike">
                <a:solidFill>
                  <a:srgbClr val="000000"/>
                </a:solidFill>
                <a:latin typeface="Arial"/>
                <a:ea typeface="Arial"/>
                <a:cs typeface="Arial"/>
                <a:sym typeface="Arial"/>
              </a:rPr>
              <a:t>Esta etapa incluirá como evidencias el sistema en funcionamiento, manuales de usuario y documentación técnica, asegurando que el proyecto cumpla con los objetivos planteados dentro del tiempo establecido.</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8" name="Google Shape;228;p13" title="images.png"/>
          <p:cNvPicPr preferRelativeResize="0"/>
          <p:nvPr/>
        </p:nvPicPr>
        <p:blipFill rotWithShape="1">
          <a:blip r:embed="rId3">
            <a:alphaModFix/>
          </a:blip>
          <a:srcRect b="0" l="0" r="0" t="0"/>
          <a:stretch/>
        </p:blipFill>
        <p:spPr>
          <a:xfrm>
            <a:off x="9773576" y="508463"/>
            <a:ext cx="1080000" cy="540000"/>
          </a:xfrm>
          <a:prstGeom prst="rect">
            <a:avLst/>
          </a:prstGeom>
          <a:noFill/>
          <a:ln>
            <a:noFill/>
          </a:ln>
        </p:spPr>
      </p:pic>
      <p:pic>
        <p:nvPicPr>
          <p:cNvPr id="229" name="Google Shape;229;p13" title="WhatsApp Image 2026-03-27 at 6.38.41 PM.jpeg"/>
          <p:cNvPicPr preferRelativeResize="0"/>
          <p:nvPr/>
        </p:nvPicPr>
        <p:blipFill rotWithShape="1">
          <a:blip r:embed="rId4">
            <a:alphaModFix/>
          </a:blip>
          <a:srcRect b="0" l="0" r="0" t="0"/>
          <a:stretch/>
        </p:blipFill>
        <p:spPr>
          <a:xfrm>
            <a:off x="8693575" y="508463"/>
            <a:ext cx="1080000" cy="54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36" name="Google Shape;236;p14"/>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237" name="Google Shape;237;p14"/>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38" name="Google Shape;238;p14"/>
          <p:cNvSpPr txBox="1"/>
          <p:nvPr/>
        </p:nvSpPr>
        <p:spPr>
          <a:xfrm>
            <a:off x="75476" y="1819681"/>
            <a:ext cx="3854368" cy="181584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Plan de Proyecto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sng" cap="none" strike="noStrike">
                <a:solidFill>
                  <a:schemeClr val="dk1"/>
                </a:solidFill>
                <a:latin typeface="Work Sans Light"/>
                <a:ea typeface="Work Sans Light"/>
                <a:cs typeface="Work Sans Light"/>
                <a:sym typeface="Work Sans Light"/>
                <a:hlinkClick r:id="rId3">
                  <a:extLst>
                    <a:ext uri="{A12FA001-AC4F-418D-AE19-62706E023703}">
                      <ahyp:hlinkClr val="tx"/>
                    </a:ext>
                  </a:extLst>
                </a:hlinkClick>
              </a:rPr>
              <a:t>Levantamiento de Información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sng" cap="none" strike="noStrike">
                <a:solidFill>
                  <a:schemeClr val="dk1"/>
                </a:solidFill>
                <a:latin typeface="Work Sans Light"/>
                <a:ea typeface="Work Sans Light"/>
                <a:cs typeface="Work Sans Light"/>
                <a:sym typeface="Work Sans Light"/>
                <a:hlinkClick r:id="rId4">
                  <a:extLst>
                    <a:ext uri="{A12FA001-AC4F-418D-AE19-62706E023703}">
                      <ahyp:hlinkClr val="tx"/>
                    </a:ext>
                  </a:extLst>
                </a:hlinkClick>
              </a:rPr>
              <a:t>Diagrama de Procesos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IEEE-830 o Historias de Usuario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Casos de Uso Extendido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Diagrama de Clases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Prototipo No Funcional</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Patrón de Diseño</a:t>
            </a:r>
            <a:endParaRPr b="0" i="0" sz="1400" u="none" cap="none" strike="noStrike">
              <a:solidFill>
                <a:schemeClr val="dk1"/>
              </a:solidFill>
              <a:latin typeface="Work Sans Light"/>
              <a:ea typeface="Work Sans Light"/>
              <a:cs typeface="Work Sans Light"/>
              <a:sym typeface="Work Sans Light"/>
            </a:endParaRPr>
          </a:p>
        </p:txBody>
      </p:sp>
      <p:grpSp>
        <p:nvGrpSpPr>
          <p:cNvPr id="239" name="Google Shape;239;p14"/>
          <p:cNvGrpSpPr/>
          <p:nvPr/>
        </p:nvGrpSpPr>
        <p:grpSpPr>
          <a:xfrm>
            <a:off x="187562" y="1419892"/>
            <a:ext cx="3239167" cy="313569"/>
            <a:chOff x="-255202" y="1419892"/>
            <a:chExt cx="3239167" cy="313569"/>
          </a:xfrm>
        </p:grpSpPr>
        <p:sp>
          <p:nvSpPr>
            <p:cNvPr id="240" name="Google Shape;240;p14"/>
            <p:cNvSpPr/>
            <p:nvPr/>
          </p:nvSpPr>
          <p:spPr>
            <a:xfrm>
              <a:off x="-115128" y="168774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14"/>
            <p:cNvSpPr txBox="1"/>
            <p:nvPr/>
          </p:nvSpPr>
          <p:spPr>
            <a:xfrm>
              <a:off x="-255202" y="1419892"/>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Primer Trimestre</a:t>
              </a:r>
              <a:endParaRPr b="0" i="0" sz="1400" u="none" cap="none" strike="noStrike">
                <a:solidFill>
                  <a:srgbClr val="000000"/>
                </a:solidFill>
                <a:latin typeface="Arial"/>
                <a:ea typeface="Arial"/>
                <a:cs typeface="Arial"/>
                <a:sym typeface="Arial"/>
              </a:endParaRPr>
            </a:p>
          </p:txBody>
        </p:sp>
      </p:grpSp>
      <p:sp>
        <p:nvSpPr>
          <p:cNvPr id="242" name="Google Shape;242;p14"/>
          <p:cNvSpPr txBox="1"/>
          <p:nvPr/>
        </p:nvSpPr>
        <p:spPr>
          <a:xfrm>
            <a:off x="0" y="4001148"/>
            <a:ext cx="3854368" cy="203132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Modelo Entidad Relación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Modelo Relacional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Diccionario de Datos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Script de la BBDD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Sentencias DDL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Consultas DML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Automatización de la BBDD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Sistema de Información Web – Servidor Local</a:t>
            </a:r>
            <a:endParaRPr b="0" i="0" sz="1400" u="none" cap="none" strike="noStrike">
              <a:solidFill>
                <a:schemeClr val="dk1"/>
              </a:solidFill>
              <a:latin typeface="Work Sans Light"/>
              <a:ea typeface="Work Sans Light"/>
              <a:cs typeface="Work Sans Light"/>
              <a:sym typeface="Work Sans Light"/>
            </a:endParaRPr>
          </a:p>
        </p:txBody>
      </p:sp>
      <p:grpSp>
        <p:nvGrpSpPr>
          <p:cNvPr id="243" name="Google Shape;243;p14"/>
          <p:cNvGrpSpPr/>
          <p:nvPr/>
        </p:nvGrpSpPr>
        <p:grpSpPr>
          <a:xfrm>
            <a:off x="0" y="3568215"/>
            <a:ext cx="3239167" cy="347863"/>
            <a:chOff x="668953" y="1494678"/>
            <a:chExt cx="3239167" cy="347863"/>
          </a:xfrm>
        </p:grpSpPr>
        <p:sp>
          <p:nvSpPr>
            <p:cNvPr id="244" name="Google Shape;244;p14"/>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4"/>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Segundo Trimestre</a:t>
              </a:r>
              <a:endParaRPr b="0" i="0" sz="1400" u="none" cap="none" strike="noStrike">
                <a:solidFill>
                  <a:srgbClr val="000000"/>
                </a:solidFill>
                <a:latin typeface="Arial"/>
                <a:ea typeface="Arial"/>
                <a:cs typeface="Arial"/>
                <a:sym typeface="Arial"/>
              </a:endParaRPr>
            </a:p>
          </p:txBody>
        </p:sp>
      </p:grpSp>
      <p:grpSp>
        <p:nvGrpSpPr>
          <p:cNvPr id="246" name="Google Shape;246;p14"/>
          <p:cNvGrpSpPr/>
          <p:nvPr/>
        </p:nvGrpSpPr>
        <p:grpSpPr>
          <a:xfrm>
            <a:off x="4094452" y="1384863"/>
            <a:ext cx="3239167" cy="294592"/>
            <a:chOff x="-1098301" y="246317"/>
            <a:chExt cx="3239167" cy="294592"/>
          </a:xfrm>
        </p:grpSpPr>
        <p:sp>
          <p:nvSpPr>
            <p:cNvPr id="247" name="Google Shape;247;p14"/>
            <p:cNvSpPr/>
            <p:nvPr/>
          </p:nvSpPr>
          <p:spPr>
            <a:xfrm>
              <a:off x="-994425" y="477708"/>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p14"/>
            <p:cNvSpPr txBox="1"/>
            <p:nvPr/>
          </p:nvSpPr>
          <p:spPr>
            <a:xfrm>
              <a:off x="-1098301" y="246317"/>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Tercer Trimestre</a:t>
              </a:r>
              <a:endParaRPr b="0" i="0" sz="1400" u="none" cap="none" strike="noStrike">
                <a:solidFill>
                  <a:srgbClr val="000000"/>
                </a:solidFill>
                <a:latin typeface="Arial"/>
                <a:ea typeface="Arial"/>
                <a:cs typeface="Arial"/>
                <a:sym typeface="Arial"/>
              </a:endParaRPr>
            </a:p>
          </p:txBody>
        </p:sp>
      </p:grpSp>
      <p:sp>
        <p:nvSpPr>
          <p:cNvPr id="249" name="Google Shape;249;p14"/>
          <p:cNvSpPr txBox="1"/>
          <p:nvPr/>
        </p:nvSpPr>
        <p:spPr>
          <a:xfrm>
            <a:off x="4211123" y="1710601"/>
            <a:ext cx="3854368" cy="52322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Planeación de Pruebas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Ejecución de Pruebas</a:t>
            </a:r>
            <a:endParaRPr b="0" i="0" sz="1400" u="none" cap="none" strike="noStrike">
              <a:solidFill>
                <a:schemeClr val="dk1"/>
              </a:solidFill>
              <a:latin typeface="Work Sans Light"/>
              <a:ea typeface="Work Sans Light"/>
              <a:cs typeface="Work Sans Light"/>
              <a:sym typeface="Work Sans Light"/>
            </a:endParaRPr>
          </a:p>
        </p:txBody>
      </p:sp>
      <p:grpSp>
        <p:nvGrpSpPr>
          <p:cNvPr id="250" name="Google Shape;250;p14"/>
          <p:cNvGrpSpPr/>
          <p:nvPr/>
        </p:nvGrpSpPr>
        <p:grpSpPr>
          <a:xfrm>
            <a:off x="4094452" y="2526078"/>
            <a:ext cx="3239167" cy="327032"/>
            <a:chOff x="-146150" y="-701463"/>
            <a:chExt cx="3239167" cy="327032"/>
          </a:xfrm>
        </p:grpSpPr>
        <p:sp>
          <p:nvSpPr>
            <p:cNvPr id="251" name="Google Shape;251;p14"/>
            <p:cNvSpPr/>
            <p:nvPr/>
          </p:nvSpPr>
          <p:spPr>
            <a:xfrm>
              <a:off x="95888" y="-420150"/>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p14"/>
            <p:cNvSpPr txBox="1"/>
            <p:nvPr/>
          </p:nvSpPr>
          <p:spPr>
            <a:xfrm>
              <a:off x="-146150" y="-701463"/>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Cuarto Trimestre</a:t>
              </a:r>
              <a:endParaRPr b="0" i="0" sz="1400" u="none" cap="none" strike="noStrike">
                <a:solidFill>
                  <a:srgbClr val="000000"/>
                </a:solidFill>
                <a:latin typeface="Arial"/>
                <a:ea typeface="Arial"/>
                <a:cs typeface="Arial"/>
                <a:sym typeface="Arial"/>
              </a:endParaRPr>
            </a:p>
          </p:txBody>
        </p:sp>
      </p:grpSp>
      <p:sp>
        <p:nvSpPr>
          <p:cNvPr id="253" name="Google Shape;253;p14"/>
          <p:cNvSpPr txBox="1"/>
          <p:nvPr/>
        </p:nvSpPr>
        <p:spPr>
          <a:xfrm>
            <a:off x="3903522" y="3010501"/>
            <a:ext cx="3854368" cy="738664"/>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Manual de Instalación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Configuración del Servidor de Aplicaciones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Configuración del Servidor de BBDD</a:t>
            </a:r>
            <a:endParaRPr b="0" i="0" sz="1400" u="none" cap="none" strike="noStrike">
              <a:solidFill>
                <a:schemeClr val="dk1"/>
              </a:solidFill>
              <a:latin typeface="Work Sans Light"/>
              <a:ea typeface="Work Sans Light"/>
              <a:cs typeface="Work Sans Light"/>
              <a:sym typeface="Work Sans Light"/>
            </a:endParaRPr>
          </a:p>
        </p:txBody>
      </p:sp>
      <p:grpSp>
        <p:nvGrpSpPr>
          <p:cNvPr id="254" name="Google Shape;254;p14"/>
          <p:cNvGrpSpPr/>
          <p:nvPr/>
        </p:nvGrpSpPr>
        <p:grpSpPr>
          <a:xfrm>
            <a:off x="4094452" y="4226103"/>
            <a:ext cx="3239167" cy="340311"/>
            <a:chOff x="-3586936" y="2152566"/>
            <a:chExt cx="3239167" cy="340311"/>
          </a:xfrm>
        </p:grpSpPr>
        <p:sp>
          <p:nvSpPr>
            <p:cNvPr id="255" name="Google Shape;255;p14"/>
            <p:cNvSpPr/>
            <p:nvPr/>
          </p:nvSpPr>
          <p:spPr>
            <a:xfrm>
              <a:off x="-3470265" y="2447158"/>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6" name="Google Shape;256;p14"/>
            <p:cNvSpPr txBox="1"/>
            <p:nvPr/>
          </p:nvSpPr>
          <p:spPr>
            <a:xfrm>
              <a:off x="-3586936" y="2152566"/>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Quinto Trimestre</a:t>
              </a:r>
              <a:endParaRPr b="0" i="0" sz="1400" u="none" cap="none" strike="noStrike">
                <a:solidFill>
                  <a:srgbClr val="000000"/>
                </a:solidFill>
                <a:latin typeface="Arial"/>
                <a:ea typeface="Arial"/>
                <a:cs typeface="Arial"/>
                <a:sym typeface="Arial"/>
              </a:endParaRPr>
            </a:p>
          </p:txBody>
        </p:sp>
      </p:grpSp>
      <p:sp>
        <p:nvSpPr>
          <p:cNvPr id="257" name="Google Shape;257;p14"/>
          <p:cNvSpPr txBox="1"/>
          <p:nvPr/>
        </p:nvSpPr>
        <p:spPr>
          <a:xfrm>
            <a:off x="3903522" y="4605765"/>
            <a:ext cx="2750090" cy="738664"/>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Manual de Usuario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Sistema de Información Web – Servidor Externo</a:t>
            </a:r>
            <a:endParaRPr b="0" i="0" sz="1400" u="none" cap="none" strike="noStrike">
              <a:solidFill>
                <a:schemeClr val="dk1"/>
              </a:solidFill>
              <a:latin typeface="Work Sans Light"/>
              <a:ea typeface="Work Sans Light"/>
              <a:cs typeface="Work Sans Light"/>
              <a:sym typeface="Work Sans Light"/>
            </a:endParaRPr>
          </a:p>
        </p:txBody>
      </p:sp>
      <p:pic>
        <p:nvPicPr>
          <p:cNvPr id="258" name="Google Shape;258;p14" title="WhatsApp Image 2026-03-27 at 6.38.41 PM.jpeg"/>
          <p:cNvPicPr preferRelativeResize="0"/>
          <p:nvPr/>
        </p:nvPicPr>
        <p:blipFill rotWithShape="1">
          <a:blip r:embed="rId5">
            <a:alphaModFix/>
          </a:blip>
          <a:srcRect b="0" l="0" r="0" t="0"/>
          <a:stretch/>
        </p:blipFill>
        <p:spPr>
          <a:xfrm>
            <a:off x="8693575" y="508463"/>
            <a:ext cx="1080000" cy="540000"/>
          </a:xfrm>
          <a:prstGeom prst="rect">
            <a:avLst/>
          </a:prstGeom>
          <a:noFill/>
          <a:ln>
            <a:noFill/>
          </a:ln>
        </p:spPr>
      </p:pic>
      <p:pic>
        <p:nvPicPr>
          <p:cNvPr id="259" name="Google Shape;259;p14" title="images.png"/>
          <p:cNvPicPr preferRelativeResize="0"/>
          <p:nvPr/>
        </p:nvPicPr>
        <p:blipFill rotWithShape="1">
          <a:blip r:embed="rId6">
            <a:alphaModFix/>
          </a:blip>
          <a:srcRect b="0" l="0" r="0" t="0"/>
          <a:stretch/>
        </p:blipFill>
        <p:spPr>
          <a:xfrm>
            <a:off x="9773576" y="508463"/>
            <a:ext cx="1080000" cy="540000"/>
          </a:xfrm>
          <a:prstGeom prst="rect">
            <a:avLst/>
          </a:prstGeom>
          <a:noFill/>
          <a:ln>
            <a:noFill/>
          </a:ln>
        </p:spPr>
      </p:pic>
      <p:sp>
        <p:nvSpPr>
          <p:cNvPr id="260" name="Google Shape;260;p14"/>
          <p:cNvSpPr txBox="1"/>
          <p:nvPr/>
        </p:nvSpPr>
        <p:spPr>
          <a:xfrm>
            <a:off x="8001342" y="147842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Sexto trimestre</a:t>
            </a:r>
            <a:endParaRPr b="0" i="0" sz="1400" u="none" cap="none" strike="noStrike">
              <a:solidFill>
                <a:srgbClr val="000000"/>
              </a:solidFill>
              <a:latin typeface="Arial"/>
              <a:ea typeface="Arial"/>
              <a:cs typeface="Arial"/>
              <a:sym typeface="Arial"/>
            </a:endParaRPr>
          </a:p>
        </p:txBody>
      </p:sp>
      <p:sp>
        <p:nvSpPr>
          <p:cNvPr id="261" name="Google Shape;261;p14"/>
          <p:cNvSpPr txBox="1"/>
          <p:nvPr/>
        </p:nvSpPr>
        <p:spPr>
          <a:xfrm>
            <a:off x="7905416" y="2660095"/>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Séptimo trimestre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Imagen que contiene Interfaz de usuario gráfica&#10;&#10;Descripción generada automáticamente" id="266" name="Google Shape;266;p15"/>
          <p:cNvPicPr preferRelativeResize="0"/>
          <p:nvPr/>
        </p:nvPicPr>
        <p:blipFill rotWithShape="1">
          <a:blip r:embed="rId3">
            <a:alphaModFix/>
          </a:blip>
          <a:srcRect b="0" l="0" r="0" t="0"/>
          <a:stretch/>
        </p:blipFill>
        <p:spPr>
          <a:xfrm>
            <a:off x="0" y="70339"/>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